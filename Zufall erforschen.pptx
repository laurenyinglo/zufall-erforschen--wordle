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75" r:id="rId23"/>
    <p:sldId id="277" r:id="rId24"/>
    <p:sldId id="278" r:id="rId25"/>
    <p:sldId id="279" r:id="rId26"/>
    <p:sldId id="283" r:id="rId27"/>
    <p:sldId id="282" r:id="rId28"/>
    <p:sldId id="281" r:id="rId2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 snapToGrid="0">
      <p:cViewPr varScale="1">
        <p:scale>
          <a:sx n="120" d="100"/>
          <a:sy n="120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5F9DF-04A2-3D4F-84B2-5F0DC51B242D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DBB81-7EAA-284C-A2CC-F714711DD8A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63425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DBB81-7EAA-284C-A2CC-F714711DD8A0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4813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9EFEAC-F255-96D6-3DFF-16787A71D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22BD4D-0FE7-C069-60CF-88342613D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15E276-DED2-10EB-4253-157670915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DFB4F3-9989-80A0-E154-5FEBAB60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3FE96F-A2E1-A4D2-1435-007E6745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866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F0228A-BACF-6BFC-55C0-D9CCD11C9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6EB71D-7B89-67B8-A1AB-59BF17D80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7BD727-7431-F585-142C-7428AEAC8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8A5F885-F713-C422-B923-5390CA16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35FA7C1-C833-B289-83B2-481149C7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1731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C1AE9B-F7EB-B946-5669-7F2D2CB4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94938A-9A8A-2CB9-8BDB-FBE07A5C3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967CFA-2EE9-FECF-2545-D8D9341A1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EEC7C5-A3BD-93AF-06E5-DDB70C88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ACE0E6-21BD-30E6-6DB2-BDCB251B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2171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11B6DC-3587-9BA5-9AD2-5629C7A7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4307FF-391D-DD4C-1E83-BF8850ABA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84594A4-D98E-DDA5-4CD7-9A9EB0633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8C32C8-78B6-DC01-493A-5BD12409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3C308F-2ECE-E965-AE25-98D6AA872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6EF88C4-BAA3-D053-1152-23556BE7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446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4214BB-2F0A-6A5E-CED5-EBFBCE907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57B3FA-7A88-4538-B54C-7B2AB3D82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3100F2-FE69-66F1-C931-C9755522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EF83B7A-F560-F800-04EB-2A33CB71B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1B8B4F2-823C-2CF6-3652-C3AC9AD7B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85DB1B1-9C46-C992-67E0-4EB3C3E9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E3A7F5-99D7-A1E9-6882-9406579D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EFFA5CE-7D1B-DD11-D69C-DBE2C6E1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087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553B57-4AA4-EFAD-7AE2-2DA9C3F4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99D5676-A390-6E7F-6764-AB8E5E56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0D5E410-27F7-D186-2EAD-C4068BF65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D208CC-2F3E-860A-EF68-E685A0ED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813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DABD2A0-7426-1A42-370C-62D09542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F2EE0B4-CFAB-6208-9994-01A7F7960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1C82D5-57E9-F778-156A-B68FD94B8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575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18EA0-8888-50EF-F0CF-2119761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165212-70B3-62AA-9B96-E58D63932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5838B97-43BD-5710-EDAD-80DB630BD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805EDF-EACA-EFB0-F006-343FF3665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974C48D-3510-84AB-B477-59B10477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A74A553-064B-5A54-B3B0-3925509B4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372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327503-B972-39B3-66B0-660EFA366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C2F4C1-6DE0-FA32-2B9C-B45AA3EC62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DF5EE71-5B94-FA41-CFED-43CC09FD5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37039A-5970-35A3-AD08-6B09D167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11F5EEB-0CE4-9131-FC75-E8C4C115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4071FE-62D7-16B3-C248-78B01AE0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6746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B5641-A5EB-2D1F-ADF5-89904B2C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94D3490-A866-81E4-127A-B45CD224B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FF55FE-714D-EE3F-C620-31C95B2C0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95BA77-36FC-B05D-1330-27C87D352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E0F84A-6FDF-A98D-7C27-784756D1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960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3AF2D71-B5B9-45CF-9952-FA4F36C67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BF291C-40B8-88E9-A1EF-0F7543D41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79DC34-9392-3B23-70E9-201F88AA1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59993-F034-7741-35ED-BB6128B5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6BCFC9-9ACA-5028-E4E5-F95712FE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3447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9996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A2E03E6-D55B-8747-19F3-12211BBD0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D2A95C6-A393-1AD8-F32A-4578A615A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51D9CD-A1AF-DCCE-F335-212E7AD84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B184C-BD16-3D4B-AE3D-6281AD6554D8}" type="datetimeFigureOut">
              <a:rPr kumimoji="1" lang="zh-TW" altLang="en-US" smtClean="0"/>
              <a:t>2025/7/23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645256-E426-A746-029C-4E5D1BFDD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6397FB-EF0A-9D4A-2C85-06342CF14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4DA8F-641A-7942-AA9B-9880EB4B653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8575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5F6ABD6-EA55-D50D-8747-1EC793D3779D}"/>
              </a:ext>
            </a:extLst>
          </p:cNvPr>
          <p:cNvSpPr/>
          <p:nvPr/>
        </p:nvSpPr>
        <p:spPr>
          <a:xfrm>
            <a:off x="-146304" y="1550064"/>
            <a:ext cx="12216384" cy="163121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10000" b="1" cap="none" spc="0" dirty="0">
                <a:ln/>
                <a:solidFill>
                  <a:schemeClr val="accent3"/>
                </a:solidFill>
                <a:effectLst/>
                <a:latin typeface="Bradley Hand" pitchFamily="2" charset="0"/>
              </a:rPr>
              <a:t>Wordle</a:t>
            </a:r>
            <a:endParaRPr lang="zh-TW" altLang="en-US" sz="10000" b="1" cap="none" spc="0" dirty="0">
              <a:ln/>
              <a:solidFill>
                <a:schemeClr val="accent3"/>
              </a:solidFill>
              <a:effectLst/>
              <a:latin typeface="Bradley Hand" pitchFamily="2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A3BB605-A731-7CE2-0438-D71D87614D87}"/>
              </a:ext>
            </a:extLst>
          </p:cNvPr>
          <p:cNvSpPr txBox="1"/>
          <p:nvPr/>
        </p:nvSpPr>
        <p:spPr>
          <a:xfrm>
            <a:off x="3523488" y="3181280"/>
            <a:ext cx="4876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TW" sz="4000" dirty="0">
                <a:effectLst/>
                <a:latin typeface="Bradley Hand" pitchFamily="2" charset="0"/>
              </a:rPr>
              <a:t>Strategie </a:t>
            </a:r>
            <a:r>
              <a:rPr lang="de-DE" altLang="zh-TW" sz="4000" dirty="0" err="1">
                <a:effectLst/>
                <a:latin typeface="Bradley Hand" pitchFamily="2" charset="0"/>
              </a:rPr>
              <a:t>für</a:t>
            </a:r>
            <a:r>
              <a:rPr lang="de-DE" altLang="zh-TW" sz="4000" dirty="0">
                <a:effectLst/>
                <a:latin typeface="Bradley Hand" pitchFamily="2" charset="0"/>
              </a:rPr>
              <a:t> </a:t>
            </a:r>
            <a:r>
              <a:rPr lang="de-DE" altLang="zh-TW" sz="4000" dirty="0" err="1">
                <a:effectLst/>
                <a:latin typeface="Bradley Hand" pitchFamily="2" charset="0"/>
              </a:rPr>
              <a:t>Wordle</a:t>
            </a:r>
            <a:r>
              <a:rPr lang="de-DE" altLang="zh-TW" sz="4000" dirty="0">
                <a:effectLst/>
                <a:latin typeface="Bradley Hand" pitchFamily="2" charset="0"/>
              </a:rPr>
              <a:t> </a:t>
            </a:r>
            <a:endParaRPr lang="de-DE" altLang="zh-TW" sz="4000" dirty="0">
              <a:latin typeface="Bradley Hand" pitchFamily="2" charset="0"/>
            </a:endParaRPr>
          </a:p>
          <a:p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BDCEF2C-C98F-C19F-89B0-107B12669E60}"/>
              </a:ext>
            </a:extLst>
          </p:cNvPr>
          <p:cNvSpPr txBox="1"/>
          <p:nvPr/>
        </p:nvSpPr>
        <p:spPr>
          <a:xfrm>
            <a:off x="4181856" y="5474208"/>
            <a:ext cx="35600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Ying Lo, </a:t>
            </a:r>
            <a:r>
              <a:rPr kumimoji="1" lang="en-US" altLang="zh-TW" sz="2400" dirty="0" err="1">
                <a:latin typeface="Bradley Hand" pitchFamily="2" charset="0"/>
              </a:rPr>
              <a:t>Mingjie</a:t>
            </a:r>
            <a:r>
              <a:rPr kumimoji="1" lang="en-US" altLang="zh-TW" sz="2400" dirty="0">
                <a:latin typeface="Bradley Hand" pitchFamily="2" charset="0"/>
              </a:rPr>
              <a:t> Peng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BEB3220E-9C84-103E-BF3A-B6D360EA7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2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17044CC-19A5-BF2A-4721-ED55F6C8E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345" y="0"/>
            <a:ext cx="9066414" cy="687795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5FAB2CB-13A4-F249-BF69-B4EBAB939F51}"/>
              </a:ext>
            </a:extLst>
          </p:cNvPr>
          <p:cNvSpPr txBox="1"/>
          <p:nvPr/>
        </p:nvSpPr>
        <p:spPr>
          <a:xfrm>
            <a:off x="573024" y="792480"/>
            <a:ext cx="5096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600" dirty="0">
                <a:latin typeface="Bradley Hand" pitchFamily="2" charset="0"/>
              </a:rPr>
              <a:t>Was </a:t>
            </a:r>
            <a:r>
              <a:rPr kumimoji="1" lang="en-US" altLang="zh-TW" sz="3600" dirty="0" err="1">
                <a:latin typeface="Bradley Hand" pitchFamily="2" charset="0"/>
              </a:rPr>
              <a:t>ist</a:t>
            </a:r>
            <a:r>
              <a:rPr kumimoji="1" lang="en-US" altLang="zh-TW" sz="3600" dirty="0">
                <a:latin typeface="Bradley Hand" pitchFamily="2" charset="0"/>
              </a:rPr>
              <a:t> Wordle?</a:t>
            </a:r>
            <a:endParaRPr kumimoji="1" lang="zh-TW" altLang="en-US" sz="3600" dirty="0">
              <a:latin typeface="Bradley Hand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C95E992-F135-43F2-ACB8-14EBC5C4B16D}"/>
              </a:ext>
            </a:extLst>
          </p:cNvPr>
          <p:cNvSpPr txBox="1"/>
          <p:nvPr/>
        </p:nvSpPr>
        <p:spPr>
          <a:xfrm>
            <a:off x="195072" y="2231291"/>
            <a:ext cx="5474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TW" sz="2800" dirty="0">
                <a:effectLst/>
                <a:latin typeface="Bradley Hand" pitchFamily="2" charset="0"/>
              </a:rPr>
              <a:t>Gibt es eine Strategie </a:t>
            </a:r>
            <a:r>
              <a:rPr lang="de-DE" altLang="zh-TW" sz="2800" dirty="0" err="1">
                <a:effectLst/>
                <a:latin typeface="Bradley Hand" pitchFamily="2" charset="0"/>
              </a:rPr>
              <a:t>für</a:t>
            </a:r>
            <a:r>
              <a:rPr lang="de-DE" altLang="zh-TW" sz="2800" dirty="0">
                <a:effectLst/>
                <a:latin typeface="Bradley Hand" pitchFamily="2" charset="0"/>
              </a:rPr>
              <a:t> </a:t>
            </a:r>
            <a:r>
              <a:rPr lang="de-DE" altLang="zh-TW" sz="2800" dirty="0" err="1">
                <a:effectLst/>
                <a:latin typeface="Bradley Hand" pitchFamily="2" charset="0"/>
              </a:rPr>
              <a:t>Wordle</a:t>
            </a:r>
            <a:r>
              <a:rPr lang="de-DE" altLang="zh-TW" sz="2800" dirty="0">
                <a:effectLst/>
                <a:latin typeface="Bradley Hand" pitchFamily="2" charset="0"/>
              </a:rPr>
              <a:t>? </a:t>
            </a:r>
            <a:endParaRPr lang="de-DE" altLang="zh-TW" sz="2800" dirty="0">
              <a:latin typeface="Bradley Ha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88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9D43306-11FC-0760-830F-694AC47ED4B8}"/>
              </a:ext>
            </a:extLst>
          </p:cNvPr>
          <p:cNvSpPr txBox="1"/>
          <p:nvPr/>
        </p:nvSpPr>
        <p:spPr>
          <a:xfrm>
            <a:off x="487680" y="540758"/>
            <a:ext cx="47670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3600" dirty="0">
                <a:effectLst/>
                <a:latin typeface="Bradley Hand" pitchFamily="2" charset="0"/>
              </a:rPr>
              <a:t>Strategie </a:t>
            </a:r>
            <a:r>
              <a:rPr lang="de-DE" altLang="zh-TW" sz="3600" dirty="0" err="1">
                <a:effectLst/>
                <a:latin typeface="Bradley Hand" pitchFamily="2" charset="0"/>
              </a:rPr>
              <a:t>für</a:t>
            </a:r>
            <a:r>
              <a:rPr lang="de-DE" altLang="zh-TW" sz="3600" dirty="0">
                <a:effectLst/>
                <a:latin typeface="Bradley Hand" pitchFamily="2" charset="0"/>
              </a:rPr>
              <a:t> </a:t>
            </a:r>
            <a:r>
              <a:rPr lang="de-DE" altLang="zh-TW" sz="3600" dirty="0" err="1">
                <a:effectLst/>
                <a:latin typeface="Bradley Hand" pitchFamily="2" charset="0"/>
              </a:rPr>
              <a:t>Wordle</a:t>
            </a:r>
            <a:endParaRPr lang="zh-TW" altLang="en-US" sz="36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75C4CA5-432A-6000-10E3-8E1F542F52AC}"/>
              </a:ext>
            </a:extLst>
          </p:cNvPr>
          <p:cNvSpPr txBox="1"/>
          <p:nvPr/>
        </p:nvSpPr>
        <p:spPr>
          <a:xfrm>
            <a:off x="2310384" y="3681907"/>
            <a:ext cx="75712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Wie finden wir das optimale Anfangswort, um </a:t>
            </a:r>
            <a:r>
              <a:rPr lang="de-DE" altLang="zh-TW" sz="2800" dirty="0" err="1">
                <a:latin typeface="Bradley Hand" pitchFamily="2" charset="0"/>
              </a:rPr>
              <a:t>Wordle</a:t>
            </a:r>
            <a:r>
              <a:rPr lang="de-DE" altLang="zh-TW" sz="2800" dirty="0">
                <a:latin typeface="Bradley Hand" pitchFamily="2" charset="0"/>
              </a:rPr>
              <a:t> in möglichst wenigen Zügen zu lösen?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EBEE05-3799-FE74-B8FB-8D4F8A42350F}"/>
              </a:ext>
            </a:extLst>
          </p:cNvPr>
          <p:cNvSpPr txBox="1"/>
          <p:nvPr/>
        </p:nvSpPr>
        <p:spPr>
          <a:xfrm>
            <a:off x="3048000" y="155142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3200" b="1" dirty="0">
                <a:latin typeface="Bradley Hand" pitchFamily="2" charset="0"/>
              </a:rPr>
              <a:t>Ziel: Minimierung der </a:t>
            </a:r>
            <a:r>
              <a:rPr lang="de-DE" altLang="zh-TW" sz="3200" b="1" dirty="0" err="1">
                <a:latin typeface="Bradley Hand" pitchFamily="2" charset="0"/>
              </a:rPr>
              <a:t>Zugzahl</a:t>
            </a:r>
            <a:endParaRPr lang="zh-TW" altLang="en-US" sz="3200" b="1" dirty="0">
              <a:latin typeface="Bradley Hand" pitchFamily="2" charset="0"/>
            </a:endParaRPr>
          </a:p>
        </p:txBody>
      </p:sp>
      <p:sp>
        <p:nvSpPr>
          <p:cNvPr id="10" name="向下箭號 9">
            <a:extLst>
              <a:ext uri="{FF2B5EF4-FFF2-40B4-BE49-F238E27FC236}">
                <a16:creationId xmlns:a16="http://schemas.microsoft.com/office/drawing/2014/main" id="{876234F0-5187-295C-0F8E-5736D21BE981}"/>
              </a:ext>
            </a:extLst>
          </p:cNvPr>
          <p:cNvSpPr/>
          <p:nvPr/>
        </p:nvSpPr>
        <p:spPr>
          <a:xfrm>
            <a:off x="5718048" y="2312247"/>
            <a:ext cx="755904" cy="1232654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314A53B-FA38-A38E-FCF1-E0EC8BC88624}"/>
              </a:ext>
            </a:extLst>
          </p:cNvPr>
          <p:cNvSpPr txBox="1"/>
          <p:nvPr/>
        </p:nvSpPr>
        <p:spPr>
          <a:xfrm>
            <a:off x="4200144" y="5090607"/>
            <a:ext cx="3791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4800" b="1" dirty="0">
                <a:latin typeface="Bradley Hand" pitchFamily="2" charset="0"/>
              </a:rPr>
              <a:t>Anfangswort</a:t>
            </a:r>
            <a:endParaRPr lang="zh-TW" altLang="en-US" sz="4800" b="1"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65C654E2-FE5D-94BF-2421-31550E0A8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1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9F1BA65A-990B-4F97-F617-2F5889B591DC}"/>
              </a:ext>
            </a:extLst>
          </p:cNvPr>
          <p:cNvSpPr txBox="1"/>
          <p:nvPr/>
        </p:nvSpPr>
        <p:spPr>
          <a:xfrm>
            <a:off x="536448" y="613910"/>
            <a:ext cx="52059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Erste Heuristik: </a:t>
            </a:r>
          </a:p>
          <a:p>
            <a:r>
              <a:rPr lang="de-DE" altLang="zh-TW" sz="2800" dirty="0">
                <a:latin typeface="Bradley Hand" pitchFamily="2" charset="0"/>
              </a:rPr>
              <a:t>Positions-Wahrscheinlichkeiten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007CF76-3020-4E11-6197-4506419CA03A}"/>
              </a:ext>
            </a:extLst>
          </p:cNvPr>
          <p:cNvSpPr txBox="1"/>
          <p:nvPr/>
        </p:nvSpPr>
        <p:spPr>
          <a:xfrm>
            <a:off x="666732" y="2856798"/>
            <a:ext cx="108585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de-DE" altLang="zh-TW" sz="2800" dirty="0">
                <a:latin typeface="Bradley Hand" pitchFamily="2" charset="0"/>
              </a:rPr>
              <a:t>Gesamten Antwortwortschatz durchzählen.</a:t>
            </a:r>
          </a:p>
          <a:p>
            <a:pPr marL="457200" indent="-457200">
              <a:buAutoNum type="arabicPeriod"/>
            </a:pPr>
            <a:r>
              <a:rPr lang="de-DE" altLang="zh-TW" sz="2800" dirty="0">
                <a:latin typeface="Bradley Hand" pitchFamily="2" charset="0"/>
              </a:rPr>
              <a:t>Für jede Position die Häufigkeit aller 26   Buchstaben bestimmen.</a:t>
            </a:r>
          </a:p>
          <a:p>
            <a:pPr marL="457200" indent="-457200">
              <a:buAutoNum type="arabicPeriod"/>
            </a:pPr>
            <a:r>
              <a:rPr lang="de-DE" altLang="zh-TW" sz="2800" dirty="0">
                <a:latin typeface="Bradley Hand" pitchFamily="2" charset="0"/>
              </a:rPr>
              <a:t>Score(</a:t>
            </a:r>
            <a:r>
              <a:rPr lang="de-DE" altLang="zh-TW" sz="2800" dirty="0" err="1">
                <a:latin typeface="Bradley Hand" pitchFamily="2" charset="0"/>
              </a:rPr>
              <a:t>w</a:t>
            </a:r>
            <a:r>
              <a:rPr lang="de-DE" altLang="zh-TW" sz="2800" dirty="0">
                <a:latin typeface="Bradley Hand" pitchFamily="2" charset="0"/>
              </a:rPr>
              <a:t>) = Summe der fünf Einzelwahrscheinlichkeiten.</a:t>
            </a:r>
            <a:endParaRPr lang="zh-TW" altLang="en-US" sz="2800" dirty="0">
              <a:latin typeface="Bradley Hand" pitchFamily="2" charset="0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3180A69E-C1CB-9FE2-5899-38AFC923E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6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5EC198C-878B-5767-5A00-BAAA03A70D8D}"/>
              </a:ext>
            </a:extLst>
          </p:cNvPr>
          <p:cNvSpPr txBox="1"/>
          <p:nvPr/>
        </p:nvSpPr>
        <p:spPr>
          <a:xfrm>
            <a:off x="536448" y="613910"/>
            <a:ext cx="52059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Erste Heuristik: </a:t>
            </a:r>
          </a:p>
          <a:p>
            <a:r>
              <a:rPr lang="de-DE" altLang="zh-TW" sz="2800" dirty="0">
                <a:latin typeface="Bradley Hand" pitchFamily="2" charset="0"/>
              </a:rPr>
              <a:t>Positions-Wahrscheinlichkeiten</a:t>
            </a:r>
            <a:endParaRPr lang="zh-TW" altLang="en-US" sz="2800" dirty="0">
              <a:latin typeface="Bradley Hand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CE28642-574A-E5DB-D0A1-1104894FCE67}"/>
                  </a:ext>
                </a:extLst>
              </p:cNvPr>
              <p:cNvSpPr txBox="1"/>
              <p:nvPr/>
            </p:nvSpPr>
            <p:spPr>
              <a:xfrm>
                <a:off x="562301" y="1658534"/>
                <a:ext cx="1661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kumimoji="1" lang="zh-TW" alt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＝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en-US" altLang="zh-TW" dirty="0">
                  <a:latin typeface="Bradley Hand" pitchFamily="2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CE28642-574A-E5DB-D0A1-1104894FC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01" y="1658534"/>
                <a:ext cx="166127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57325EF-7B06-AF8E-3F61-5E46CCFC0C39}"/>
                  </a:ext>
                </a:extLst>
              </p:cNvPr>
              <p:cNvSpPr txBox="1"/>
              <p:nvPr/>
            </p:nvSpPr>
            <p:spPr>
              <a:xfrm>
                <a:off x="496328" y="2086160"/>
                <a:ext cx="3397739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|"/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l-GR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e>
                      </m:d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𝑖𝑠𝑡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𝐷𝑎𝑡𝑎𝑏𝑎𝑛𝑘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kumimoji="1" lang="zh-TW" altLang="en-US" dirty="0">
                  <a:latin typeface="Bradley Hand" pitchFamily="2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57325EF-7B06-AF8E-3F61-5E46CCFC0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28" y="2086160"/>
                <a:ext cx="3397739" cy="404983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FC109DE-D5E5-B975-AF0D-F026A1385E17}"/>
                  </a:ext>
                </a:extLst>
              </p:cNvPr>
              <p:cNvSpPr txBox="1"/>
              <p:nvPr/>
            </p:nvSpPr>
            <p:spPr>
              <a:xfrm>
                <a:off x="6218822" y="1549154"/>
                <a:ext cx="3858504" cy="941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1" lang="de-DE" altLang="zh-TW" b="0" i="1" smtClean="0">
                          <a:latin typeface="Cambria Math" panose="02040503050406030204" pitchFamily="18" charset="0"/>
                        </a:rPr>
                        <m:t>ü</m:t>
                      </m:r>
                      <m:r>
                        <a:rPr kumimoji="1" lang="de-DE" altLang="zh-TW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kumimoji="1" lang="de-DE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de-DE" altLang="zh-TW" b="0" i="1" smtClean="0">
                          <a:latin typeface="Cambria Math" panose="02040503050406030204" pitchFamily="18" charset="0"/>
                        </a:rPr>
                        <m:t>𝑎𝑙𝑙𝑒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𝑃𝑜𝑠𝑖𝑡𝑖𝑜𝑛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1" lang="de-DE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de-DE" altLang="zh-TW" b="0" i="1" smtClean="0">
                          <a:latin typeface="Cambria Math" panose="02040503050406030204" pitchFamily="18" charset="0"/>
                        </a:rPr>
                        <m:t>𝑢𝑛𝑑</m:t>
                      </m:r>
                      <m:r>
                        <a:rPr kumimoji="1" lang="de-DE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de-DE" altLang="zh-TW" b="0" i="1" smtClean="0">
                          <a:latin typeface="Cambria Math" panose="02040503050406030204" pitchFamily="18" charset="0"/>
                        </a:rPr>
                        <m:t>𝐵𝑢𝑐h𝑠𝑡𝑎𝑏𝑒</m:t>
                      </m:r>
                      <m:r>
                        <a:rPr kumimoji="1" lang="de-DE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de-DE" altLang="zh-TW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kumimoji="1" lang="en-US" altLang="zh-TW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kumimoji="1"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FC109DE-D5E5-B975-AF0D-F026A1385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822" y="1549154"/>
                <a:ext cx="3858504" cy="941989"/>
              </a:xfrm>
              <a:prstGeom prst="rect">
                <a:avLst/>
              </a:prstGeom>
              <a:blipFill>
                <a:blip r:embed="rId4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8ED4A2A-F6E1-7A6C-2FE5-0E9C896F1B60}"/>
                  </a:ext>
                </a:extLst>
              </p:cNvPr>
              <p:cNvSpPr txBox="1"/>
              <p:nvPr/>
            </p:nvSpPr>
            <p:spPr>
              <a:xfrm>
                <a:off x="296081" y="2550042"/>
                <a:ext cx="27644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𝐴𝑛𝑓𝑎𝑛𝑔𝑠𝑤𝑜𝑟𝑡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8ED4A2A-F6E1-7A6C-2FE5-0E9C896F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81" y="2550042"/>
                <a:ext cx="2764465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C586153-D050-1303-F43E-4C53284DE46C}"/>
                  </a:ext>
                </a:extLst>
              </p:cNvPr>
              <p:cNvSpPr txBox="1"/>
              <p:nvPr/>
            </p:nvSpPr>
            <p:spPr>
              <a:xfrm>
                <a:off x="3411281" y="2907222"/>
                <a:ext cx="4662302" cy="1043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kumimoji="1"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𝑡𝑒</m:t>
                              </m:r>
                            </m:sub>
                          </m:s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𝐵𝑢𝑐h𝑠𝑡𝑎𝑏𝑒</m:t>
                          </m:r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1"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TW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TW" altLang="en-US" sz="24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C586153-D050-1303-F43E-4C53284DE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281" y="2907222"/>
                <a:ext cx="4662302" cy="1043555"/>
              </a:xfrm>
              <a:prstGeom prst="rect">
                <a:avLst/>
              </a:prstGeom>
              <a:blipFill>
                <a:blip r:embed="rId6"/>
                <a:stretch>
                  <a:fillRect l="-1087" t="-111905" r="-1902" b="-1726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ABA6CB7E-3F9E-0925-2FB8-04EEB9619E5D}"/>
              </a:ext>
            </a:extLst>
          </p:cNvPr>
          <p:cNvSpPr txBox="1"/>
          <p:nvPr/>
        </p:nvSpPr>
        <p:spPr>
          <a:xfrm>
            <a:off x="1382303" y="4690521"/>
            <a:ext cx="92262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400" b="1" dirty="0">
                <a:latin typeface="Bradley Hand" pitchFamily="2" charset="0"/>
              </a:rPr>
              <a:t>Gedanke</a:t>
            </a:r>
            <a:r>
              <a:rPr lang="de-DE" altLang="zh-TW" sz="2400" dirty="0">
                <a:latin typeface="Bradley Hand" pitchFamily="2" charset="0"/>
              </a:rPr>
              <a:t>: Hoher Score ⇒ Wort sieht „typisch“ wie eine Lösung aus.</a:t>
            </a:r>
          </a:p>
          <a:p>
            <a:endParaRPr lang="de-DE" altLang="zh-TW" sz="2400" dirty="0">
              <a:latin typeface="Bradley Hand" pitchFamily="2" charset="0"/>
            </a:endParaRPr>
          </a:p>
          <a:p>
            <a:r>
              <a:rPr lang="de-DE" altLang="zh-TW" sz="2400" dirty="0">
                <a:latin typeface="Bradley Hand" pitchFamily="2" charset="0"/>
              </a:rPr>
              <a:t>Das heißt, es gibt viele grüne/gelbe Felder</a:t>
            </a:r>
            <a:endParaRPr lang="zh-TW" altLang="en-US" sz="2400" dirty="0">
              <a:latin typeface="Bradley Ha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18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41D061DE-48BE-0BE4-83F0-7F61B8EFD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401105"/>
              </p:ext>
            </p:extLst>
          </p:nvPr>
        </p:nvGraphicFramePr>
        <p:xfrm>
          <a:off x="739648" y="1977136"/>
          <a:ext cx="8128000" cy="3708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38368854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496077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0990004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43846892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02452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7032922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3445707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6186580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6534348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26626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P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/>
                        <a:t>0.4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R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/>
                        <a:t>0.1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I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/>
                        <a:t>0.3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/>
                        <a:t>0.3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/>
                        <a:t>0.2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822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O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I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44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W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R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391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W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699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P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O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Y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69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P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O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W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R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76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K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196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L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P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231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L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I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57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F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A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N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C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Y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790376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15C6A706-61AF-EA62-0DB4-3DC08C419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358397"/>
              </p:ext>
            </p:extLst>
          </p:nvPr>
        </p:nvGraphicFramePr>
        <p:xfrm>
          <a:off x="9570720" y="1977136"/>
          <a:ext cx="711200" cy="37084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877650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/>
                        <a:t>1.3</a:t>
                      </a:r>
                      <a:endParaRPr lang="zh-TW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05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1.5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475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1.1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908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4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1.4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71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1,3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011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23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1.0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614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1.3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1161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1.1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593148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D765BA8-3050-8DAD-CAE6-40AE25C6FAB2}"/>
              </a:ext>
            </a:extLst>
          </p:cNvPr>
          <p:cNvSpPr txBox="1"/>
          <p:nvPr/>
        </p:nvSpPr>
        <p:spPr>
          <a:xfrm>
            <a:off x="739648" y="1169785"/>
            <a:ext cx="10034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>
                <a:latin typeface="Bradley Hand" pitchFamily="2" charset="0"/>
              </a:rPr>
              <a:t>Beispiel</a:t>
            </a:r>
            <a:r>
              <a:rPr kumimoji="1" lang="en-US" altLang="zh-TW" sz="2000" dirty="0">
                <a:latin typeface="Bradley Hand" pitchFamily="2" charset="0"/>
              </a:rPr>
              <a:t>:</a:t>
            </a:r>
          </a:p>
          <a:p>
            <a:r>
              <a:rPr kumimoji="1" lang="en-US" altLang="zh-TW" sz="2000" dirty="0">
                <a:latin typeface="Bradley Hand" pitchFamily="2" charset="0"/>
              </a:rPr>
              <a:t>PRINT, POINT, WATER, WASTE, PONNY, POWER, SNACK, SLEEP, SLICE, FANCY</a:t>
            </a:r>
            <a:endParaRPr kumimoji="1" lang="zh-TW" altLang="en-US" sz="2000" dirty="0">
              <a:latin typeface="Bradley Hand" pitchFamily="2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AF53C0-E242-2D0C-2B01-F90CEC56C179}"/>
              </a:ext>
            </a:extLst>
          </p:cNvPr>
          <p:cNvSpPr txBox="1"/>
          <p:nvPr/>
        </p:nvSpPr>
        <p:spPr>
          <a:xfrm>
            <a:off x="520192" y="5471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Positions-Wahrscheinlichkeiten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9" name="框架 8">
            <a:extLst>
              <a:ext uri="{FF2B5EF4-FFF2-40B4-BE49-F238E27FC236}">
                <a16:creationId xmlns:a16="http://schemas.microsoft.com/office/drawing/2014/main" id="{093F91F9-C979-56D2-EA9C-EF1016AFFFB9}"/>
              </a:ext>
            </a:extLst>
          </p:cNvPr>
          <p:cNvSpPr/>
          <p:nvPr/>
        </p:nvSpPr>
        <p:spPr>
          <a:xfrm>
            <a:off x="9570720" y="2340864"/>
            <a:ext cx="711200" cy="402336"/>
          </a:xfrm>
          <a:prstGeom prst="fram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EC7DE80-8938-CC11-5F40-E137EA7EDE16}"/>
              </a:ext>
            </a:extLst>
          </p:cNvPr>
          <p:cNvSpPr txBox="1"/>
          <p:nvPr/>
        </p:nvSpPr>
        <p:spPr>
          <a:xfrm>
            <a:off x="1515872" y="5949696"/>
            <a:ext cx="7351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Das </a:t>
            </a:r>
            <a:r>
              <a:rPr kumimoji="1" lang="en-US" altLang="zh-TW" sz="2400" dirty="0" err="1">
                <a:latin typeface="Bradley Hand" pitchFamily="2" charset="0"/>
              </a:rPr>
              <a:t>bedeutet</a:t>
            </a:r>
            <a:r>
              <a:rPr kumimoji="1" lang="en-US" altLang="zh-TW" sz="2400" dirty="0">
                <a:latin typeface="Bradley Hand" pitchFamily="2" charset="0"/>
              </a:rPr>
              <a:t>: POINT </a:t>
            </a:r>
            <a:r>
              <a:rPr kumimoji="1" lang="en-US" altLang="zh-TW" sz="2400" dirty="0" err="1">
                <a:latin typeface="Bradley Hand" pitchFamily="2" charset="0"/>
              </a:rPr>
              <a:t>ist</a:t>
            </a:r>
            <a:r>
              <a:rPr kumimoji="1" lang="en-US" altLang="zh-TW" sz="2400" dirty="0">
                <a:latin typeface="Bradley Hand" pitchFamily="2" charset="0"/>
              </a:rPr>
              <a:t> das </a:t>
            </a:r>
            <a:r>
              <a:rPr kumimoji="1" lang="en-US" altLang="zh-TW" sz="2400" dirty="0" err="1">
                <a:latin typeface="Bradley Hand" pitchFamily="2" charset="0"/>
              </a:rPr>
              <a:t>Beste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Anfangswort</a:t>
            </a:r>
            <a:r>
              <a:rPr kumimoji="1" lang="en-US" altLang="zh-TW" sz="2400" dirty="0">
                <a:latin typeface="Bradley Hand" pitchFamily="2" charset="0"/>
              </a:rPr>
              <a:t>.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3ECCD15-CCAB-CD34-663F-4ED34E53A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3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300CA6B-A10F-3569-79D2-7BEDA8044B4E}"/>
              </a:ext>
            </a:extLst>
          </p:cNvPr>
          <p:cNvSpPr txBox="1"/>
          <p:nvPr/>
        </p:nvSpPr>
        <p:spPr>
          <a:xfrm>
            <a:off x="520192" y="48373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Positions-Wahrscheinlichkeiten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92817AB-54AD-867A-8F06-0E3953682410}"/>
              </a:ext>
            </a:extLst>
          </p:cNvPr>
          <p:cNvSpPr txBox="1"/>
          <p:nvPr/>
        </p:nvSpPr>
        <p:spPr>
          <a:xfrm>
            <a:off x="7251460" y="1030288"/>
            <a:ext cx="408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Python --- </a:t>
            </a:r>
            <a:r>
              <a:rPr kumimoji="1" lang="de-DE" altLang="zh-TW" sz="2400" dirty="0">
                <a:latin typeface="Bradley Hand" pitchFamily="2" charset="0"/>
              </a:rPr>
              <a:t>P</a:t>
            </a:r>
            <a:r>
              <a:rPr lang="de-DE" altLang="zh-TW" sz="2400" dirty="0">
                <a:latin typeface="Bradley Hand" pitchFamily="2" charset="0"/>
              </a:rPr>
              <a:t>seudocode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1A7CA97-5DB9-0A25-8B7D-5A539A123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92" y="970854"/>
            <a:ext cx="6520069" cy="586276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53671F3-E957-8ECF-C9E5-9E9580C152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41" r="11393" b="3262"/>
          <a:stretch/>
        </p:blipFill>
        <p:spPr>
          <a:xfrm>
            <a:off x="5042267" y="4664234"/>
            <a:ext cx="6869317" cy="2169381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30A951EF-229E-B868-E534-3D23CBA10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08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724F6A3-B20C-5CBE-3480-E6F220D3B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521" y="2333637"/>
            <a:ext cx="6594958" cy="335457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5E4CBA6-6428-06AD-4143-984821A39088}"/>
              </a:ext>
            </a:extLst>
          </p:cNvPr>
          <p:cNvSpPr txBox="1"/>
          <p:nvPr/>
        </p:nvSpPr>
        <p:spPr>
          <a:xfrm>
            <a:off x="520192" y="48373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Positions-Wahrscheinlichkeiten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49C88EA-A91C-73A1-21D5-DFF52B4A0D00}"/>
              </a:ext>
            </a:extLst>
          </p:cNvPr>
          <p:cNvSpPr txBox="1"/>
          <p:nvPr/>
        </p:nvSpPr>
        <p:spPr>
          <a:xfrm>
            <a:off x="739648" y="1316354"/>
            <a:ext cx="10034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>
                <a:latin typeface="Bradley Hand" pitchFamily="2" charset="0"/>
              </a:rPr>
              <a:t>Beispiel</a:t>
            </a:r>
            <a:r>
              <a:rPr kumimoji="1" lang="en-US" altLang="zh-TW" sz="2000" dirty="0">
                <a:latin typeface="Bradley Hand" pitchFamily="2" charset="0"/>
              </a:rPr>
              <a:t>:</a:t>
            </a:r>
          </a:p>
          <a:p>
            <a:r>
              <a:rPr kumimoji="1" lang="en-US" altLang="zh-TW" sz="2000" dirty="0">
                <a:latin typeface="Bradley Hand" pitchFamily="2" charset="0"/>
              </a:rPr>
              <a:t>PRINT, POINT, WATER, WASTE, PONNY, POWER, SNACK, SLEEP, SLICE, FANCY</a:t>
            </a:r>
            <a:endParaRPr kumimoji="1" lang="zh-TW" altLang="en-US" sz="2000" dirty="0">
              <a:latin typeface="Bradley Hand" pitchFamily="2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2B1AB72-98E2-2430-09C6-81A2815606BF}"/>
              </a:ext>
            </a:extLst>
          </p:cNvPr>
          <p:cNvSpPr txBox="1"/>
          <p:nvPr/>
        </p:nvSpPr>
        <p:spPr>
          <a:xfrm>
            <a:off x="4313779" y="936955"/>
            <a:ext cx="408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Python --- </a:t>
            </a:r>
            <a:r>
              <a:rPr kumimoji="1" lang="de-DE" altLang="zh-TW" sz="2400" dirty="0">
                <a:latin typeface="Bradley Hand" pitchFamily="2" charset="0"/>
              </a:rPr>
              <a:t>Ergebnis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sp>
        <p:nvSpPr>
          <p:cNvPr id="9" name="框架 8">
            <a:extLst>
              <a:ext uri="{FF2B5EF4-FFF2-40B4-BE49-F238E27FC236}">
                <a16:creationId xmlns:a16="http://schemas.microsoft.com/office/drawing/2014/main" id="{DA7995A4-F0E9-173B-43EB-C48BB9426944}"/>
              </a:ext>
            </a:extLst>
          </p:cNvPr>
          <p:cNvSpPr/>
          <p:nvPr/>
        </p:nvSpPr>
        <p:spPr>
          <a:xfrm>
            <a:off x="8205216" y="5181600"/>
            <a:ext cx="890016" cy="506615"/>
          </a:xfrm>
          <a:prstGeom prst="fram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9CD210B-2C2E-7E10-F0ED-730A226EE334}"/>
              </a:ext>
            </a:extLst>
          </p:cNvPr>
          <p:cNvSpPr txBox="1"/>
          <p:nvPr/>
        </p:nvSpPr>
        <p:spPr>
          <a:xfrm rot="20449462">
            <a:off x="8931844" y="5485801"/>
            <a:ext cx="1217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 err="1">
                <a:solidFill>
                  <a:schemeClr val="accent2"/>
                </a:solidFill>
                <a:latin typeface="Bradley Hand" pitchFamily="2" charset="0"/>
              </a:rPr>
              <a:t>Schlecht</a:t>
            </a:r>
            <a:r>
              <a:rPr kumimoji="1" lang="en-US" altLang="zh-TW" b="1" dirty="0">
                <a:solidFill>
                  <a:schemeClr val="accent2"/>
                </a:solidFill>
                <a:latin typeface="Bradley Hand" pitchFamily="2" charset="0"/>
              </a:rPr>
              <a:t>!!</a:t>
            </a:r>
            <a:endParaRPr kumimoji="1" lang="zh-TW" altLang="en-US" b="1" dirty="0">
              <a:solidFill>
                <a:schemeClr val="accent2"/>
              </a:solidFill>
              <a:latin typeface="Bradley Hand" pitchFamily="2" charset="0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428D6FD3-7C07-5A63-4C1A-867CA37CC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5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9C25BE9E-9B4E-CEBE-6BB5-115EC188D881}"/>
              </a:ext>
            </a:extLst>
          </p:cNvPr>
          <p:cNvSpPr txBox="1"/>
          <p:nvPr/>
        </p:nvSpPr>
        <p:spPr>
          <a:xfrm>
            <a:off x="699091" y="618092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Vereinfachter Fall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AFA0F8B-ECBA-DD8E-E15D-15FBB3F51357}"/>
              </a:ext>
            </a:extLst>
          </p:cNvPr>
          <p:cNvSpPr txBox="1"/>
          <p:nvPr/>
        </p:nvSpPr>
        <p:spPr>
          <a:xfrm>
            <a:off x="9658792" y="390128"/>
            <a:ext cx="143096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000" dirty="0">
                <a:latin typeface="Bradley Hand" pitchFamily="2" charset="0"/>
              </a:rPr>
              <a:t>000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222</a:t>
            </a:r>
            <a:endParaRPr kumimoji="1" lang="zh-TW" altLang="en-US" sz="4000" dirty="0">
              <a:latin typeface="Bradley Hand" pitchFamily="2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3DF5863-1207-AB28-909A-990CAAFBED36}"/>
              </a:ext>
            </a:extLst>
          </p:cNvPr>
          <p:cNvSpPr txBox="1"/>
          <p:nvPr/>
        </p:nvSpPr>
        <p:spPr>
          <a:xfrm>
            <a:off x="593651" y="2098376"/>
            <a:ext cx="84954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altLang="zh-TW" sz="2400" dirty="0">
                <a:effectLst/>
                <a:latin typeface="Bradley Hand" pitchFamily="2" charset="0"/>
                <a:ea typeface="新細明體" panose="02020500000000000000" pitchFamily="18" charset="-120"/>
                <a:cs typeface="新細明體" panose="02020500000000000000" pitchFamily="18" charset="-120"/>
              </a:rPr>
              <a:t>Die </a:t>
            </a:r>
            <a:r>
              <a:rPr lang="en-US" altLang="zh-TW" sz="2400" dirty="0" err="1">
                <a:effectLst/>
                <a:latin typeface="Bradley Hand" pitchFamily="2" charset="0"/>
                <a:ea typeface="新細明體" panose="02020500000000000000" pitchFamily="18" charset="-120"/>
                <a:cs typeface="新細明體" panose="02020500000000000000" pitchFamily="18" charset="-120"/>
              </a:rPr>
              <a:t>Sequenz</a:t>
            </a:r>
            <a:r>
              <a:rPr lang="en-US" altLang="zh-TW" sz="2400" dirty="0">
                <a:effectLst/>
                <a:latin typeface="Bradley Hand" pitchFamily="2" charset="0"/>
                <a:ea typeface="新細明體" panose="02020500000000000000" pitchFamily="18" charset="-120"/>
                <a:cs typeface="新細明體" panose="02020500000000000000" pitchFamily="18" charset="-120"/>
              </a:rPr>
              <a:t> </a:t>
            </a:r>
            <a:r>
              <a:rPr lang="en-US" altLang="zh-TW" sz="2400" dirty="0" err="1">
                <a:effectLst/>
                <a:latin typeface="Bradley Hand" pitchFamily="2" charset="0"/>
                <a:ea typeface="新細明體" panose="02020500000000000000" pitchFamily="18" charset="-120"/>
                <a:cs typeface="新細明體" panose="02020500000000000000" pitchFamily="18" charset="-120"/>
              </a:rPr>
              <a:t>ist</a:t>
            </a:r>
            <a:r>
              <a:rPr lang="en-US" altLang="zh-TW" sz="2400" dirty="0">
                <a:effectLst/>
                <a:latin typeface="Bradley Hand" pitchFamily="2" charset="0"/>
                <a:ea typeface="新細明體" panose="02020500000000000000" pitchFamily="18" charset="-120"/>
                <a:cs typeface="新細明體" panose="02020500000000000000" pitchFamily="18" charset="-120"/>
              </a:rPr>
              <a:t> </a:t>
            </a:r>
            <a:r>
              <a:rPr lang="en-US" altLang="zh-TW" sz="2400" dirty="0" err="1">
                <a:effectLst/>
                <a:latin typeface="Bradley Hand" pitchFamily="2" charset="0"/>
                <a:ea typeface="新細明體" panose="02020500000000000000" pitchFamily="18" charset="-120"/>
                <a:cs typeface="新細明體" panose="02020500000000000000" pitchFamily="18" charset="-120"/>
              </a:rPr>
              <a:t>dreistellig</a:t>
            </a:r>
            <a:r>
              <a:rPr lang="en-US" altLang="zh-TW" sz="2400" dirty="0">
                <a:effectLst/>
                <a:latin typeface="Bradley Hand" pitchFamily="2" charset="0"/>
                <a:ea typeface="新細明體" panose="02020500000000000000" pitchFamily="18" charset="-120"/>
                <a:cs typeface="新細明體" panose="02020500000000000000" pitchFamily="18" charset="-120"/>
              </a:rPr>
              <a:t>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zh-TW" altLang="zh-TW" sz="2400" dirty="0">
              <a:effectLst/>
              <a:latin typeface="Bradley Hand" pitchFamily="2" charset="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de-DE" altLang="zh-TW" sz="2400" dirty="0">
                <a:effectLst/>
                <a:latin typeface="Bradley Hand" pitchFamily="2" charset="0"/>
                <a:ea typeface="新細明體" panose="02020500000000000000" pitchFamily="18" charset="-120"/>
                <a:cs typeface="新細明體" panose="02020500000000000000" pitchFamily="18" charset="-120"/>
              </a:rPr>
              <a:t>Jede Position darf nur die Ziffer 0, 1 oder 2 enthalten.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de-DE" altLang="zh-TW" sz="2400" dirty="0">
              <a:effectLst/>
              <a:latin typeface="Bradley Hand" pitchFamily="2" charset="0"/>
              <a:ea typeface="新細明體" panose="02020500000000000000" pitchFamily="18" charset="-120"/>
              <a:cs typeface="新細明體" panose="02020500000000000000" pitchFamily="18" charset="-12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de-DE" altLang="zh-TW" sz="2400" dirty="0">
                <a:effectLst/>
                <a:latin typeface="Bradley Hand" pitchFamily="2" charset="0"/>
                <a:ea typeface="新細明體" panose="02020500000000000000" pitchFamily="18" charset="-120"/>
              </a:rPr>
              <a:t>erste Stelle ≥ zweite Stelle ≥ dritte Stelle)</a:t>
            </a:r>
            <a:endParaRPr lang="zh-TW" altLang="en-US" sz="2400" dirty="0">
              <a:latin typeface="Bradley Hand" pitchFamily="2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AA6D29F-3169-DC57-74C6-7859006BEF04}"/>
              </a:ext>
            </a:extLst>
          </p:cNvPr>
          <p:cNvSpPr txBox="1"/>
          <p:nvPr/>
        </p:nvSpPr>
        <p:spPr>
          <a:xfrm>
            <a:off x="2632442" y="4447547"/>
            <a:ext cx="609777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b="1" dirty="0">
                <a:latin typeface="Bradley Hand" pitchFamily="2" charset="0"/>
              </a:rPr>
              <a:t>Welche Ziffer rate ich zuerst an der ersten Stelle der dreistelligen Zahl?</a:t>
            </a:r>
            <a:endParaRPr lang="zh-TW" altLang="en-US" sz="2800" b="1" dirty="0">
              <a:latin typeface="Bradley Hand" pitchFamily="2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FC9D255-315C-D801-1132-0CC1A2C664A8}"/>
              </a:ext>
            </a:extLst>
          </p:cNvPr>
          <p:cNvSpPr txBox="1"/>
          <p:nvPr/>
        </p:nvSpPr>
        <p:spPr>
          <a:xfrm>
            <a:off x="4965844" y="4968991"/>
            <a:ext cx="14309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0" dirty="0">
                <a:latin typeface="Bradley Hand" pitchFamily="2" charset="0"/>
              </a:rPr>
              <a:t>2</a:t>
            </a:r>
            <a:endParaRPr kumimoji="1" lang="zh-TW" altLang="en-US" sz="12000" dirty="0">
              <a:latin typeface="Bradley Hand" pitchFamily="2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B81937D-F7ED-6404-7502-41510B46FA1E}"/>
              </a:ext>
            </a:extLst>
          </p:cNvPr>
          <p:cNvSpPr txBox="1"/>
          <p:nvPr/>
        </p:nvSpPr>
        <p:spPr>
          <a:xfrm>
            <a:off x="6796863" y="5938487"/>
            <a:ext cx="2052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 err="1">
                <a:latin typeface="Bradley Hand" pitchFamily="2" charset="0"/>
              </a:rPr>
              <a:t>Warum</a:t>
            </a:r>
            <a:r>
              <a:rPr kumimoji="1" lang="en-US" altLang="zh-TW" sz="2400" dirty="0">
                <a:latin typeface="Bradley Hand" pitchFamily="2" charset="0"/>
              </a:rPr>
              <a:t> 2 ?</a:t>
            </a:r>
            <a:endParaRPr kumimoji="1" lang="zh-TW" altLang="en-US" sz="2400" dirty="0">
              <a:latin typeface="Bradley Ha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3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9744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113" fill="hold">
                                          <p:stCondLst>
                                            <p:cond delay="11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" decel="50000" autoRev="1" fill="hold">
                                          <p:stCondLst>
                                            <p:cond delay="11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1403248-AA48-60C5-407B-AF54E0F087D7}"/>
              </a:ext>
            </a:extLst>
          </p:cNvPr>
          <p:cNvSpPr txBox="1"/>
          <p:nvPr/>
        </p:nvSpPr>
        <p:spPr>
          <a:xfrm>
            <a:off x="699091" y="618092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Vereinfachter Fall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01C0F67-417A-15CB-DF0E-8951EE865939}"/>
              </a:ext>
            </a:extLst>
          </p:cNvPr>
          <p:cNvSpPr txBox="1"/>
          <p:nvPr/>
        </p:nvSpPr>
        <p:spPr>
          <a:xfrm>
            <a:off x="10242696" y="425668"/>
            <a:ext cx="143096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000" dirty="0">
                <a:latin typeface="Bradley Hand" pitchFamily="2" charset="0"/>
              </a:rPr>
              <a:t>000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222</a:t>
            </a:r>
            <a:endParaRPr kumimoji="1" lang="zh-TW" altLang="en-US" sz="4000" dirty="0">
              <a:latin typeface="Bradley Hand" pitchFamily="2" charset="0"/>
            </a:endParaRPr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E7B347B9-1381-0D90-4FCE-69929ED4B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159991"/>
              </p:ext>
            </p:extLst>
          </p:nvPr>
        </p:nvGraphicFramePr>
        <p:xfrm>
          <a:off x="518337" y="1672953"/>
          <a:ext cx="2129170" cy="351209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169">
                  <a:extLst>
                    <a:ext uri="{9D8B030D-6E8A-4147-A177-3AD203B41FA5}">
                      <a16:colId xmlns:a16="http://schemas.microsoft.com/office/drawing/2014/main" val="2621426121"/>
                    </a:ext>
                  </a:extLst>
                </a:gridCol>
                <a:gridCol w="779948">
                  <a:extLst>
                    <a:ext uri="{9D8B030D-6E8A-4147-A177-3AD203B41FA5}">
                      <a16:colId xmlns:a16="http://schemas.microsoft.com/office/drawing/2014/main" val="3077846671"/>
                    </a:ext>
                  </a:extLst>
                </a:gridCol>
                <a:gridCol w="753053">
                  <a:extLst>
                    <a:ext uri="{9D8B030D-6E8A-4147-A177-3AD203B41FA5}">
                      <a16:colId xmlns:a16="http://schemas.microsoft.com/office/drawing/2014/main" val="3988421978"/>
                    </a:ext>
                  </a:extLst>
                </a:gridCol>
              </a:tblGrid>
              <a:tr h="430896"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Bradley Hand" pitchFamily="2" charset="0"/>
                        </a:rPr>
                        <a:t>0</a:t>
                      </a:r>
                      <a:endParaRPr lang="zh-TW" altLang="en-US" b="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Bradley Hand" pitchFamily="2" charset="0"/>
                        </a:rPr>
                        <a:t>000</a:t>
                      </a:r>
                      <a:endParaRPr lang="zh-TW" altLang="en-US" b="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0" dirty="0">
                          <a:latin typeface="Bradley Hand" pitchFamily="2" charset="0"/>
                        </a:rPr>
                        <a:t>1</a:t>
                      </a:r>
                      <a:endParaRPr lang="zh-TW" altLang="en-US" b="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903401"/>
                  </a:ext>
                </a:extLst>
              </a:tr>
              <a:tr h="1062482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Bradley Hand" pitchFamily="2" charset="0"/>
                        </a:rPr>
                        <a:t>1</a:t>
                      </a:r>
                      <a:endParaRPr lang="zh-TW" altLang="en-US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1800" dirty="0">
                          <a:latin typeface="Bradley Hand" pitchFamily="2" charset="0"/>
                        </a:rPr>
                        <a:t>100</a:t>
                      </a:r>
                    </a:p>
                    <a:p>
                      <a:r>
                        <a:rPr kumimoji="1" lang="en-US" altLang="zh-TW" sz="1800" dirty="0">
                          <a:latin typeface="Bradley Hand" pitchFamily="2" charset="0"/>
                        </a:rPr>
                        <a:t>110</a:t>
                      </a:r>
                    </a:p>
                    <a:p>
                      <a:r>
                        <a:rPr kumimoji="1" lang="en-US" altLang="zh-TW" sz="1800" dirty="0">
                          <a:latin typeface="Bradley Hand" pitchFamily="2" charset="0"/>
                        </a:rP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Bradley Hand" pitchFamily="2" charset="0"/>
                        </a:rPr>
                        <a:t>3</a:t>
                      </a:r>
                      <a:endParaRPr lang="zh-TW" altLang="en-US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063195"/>
                  </a:ext>
                </a:extLst>
              </a:tr>
              <a:tr h="2018715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Bradley Hand" pitchFamily="2" charset="0"/>
                        </a:rPr>
                        <a:t>2</a:t>
                      </a:r>
                      <a:endParaRPr lang="zh-TW" altLang="en-US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1800" dirty="0">
                          <a:latin typeface="Bradley Hand" pitchFamily="2" charset="0"/>
                        </a:rPr>
                        <a:t>200</a:t>
                      </a:r>
                    </a:p>
                    <a:p>
                      <a:r>
                        <a:rPr kumimoji="1" lang="en-US" altLang="zh-TW" sz="1800" dirty="0">
                          <a:latin typeface="Bradley Hand" pitchFamily="2" charset="0"/>
                        </a:rPr>
                        <a:t>210</a:t>
                      </a:r>
                    </a:p>
                    <a:p>
                      <a:r>
                        <a:rPr kumimoji="1" lang="en-US" altLang="zh-TW" sz="1800" dirty="0">
                          <a:latin typeface="Bradley Hand" pitchFamily="2" charset="0"/>
                        </a:rPr>
                        <a:t>211</a:t>
                      </a:r>
                    </a:p>
                    <a:p>
                      <a:r>
                        <a:rPr kumimoji="1" lang="en-US" altLang="zh-TW" sz="1800" dirty="0">
                          <a:latin typeface="Bradley Hand" pitchFamily="2" charset="0"/>
                        </a:rPr>
                        <a:t>220</a:t>
                      </a:r>
                    </a:p>
                    <a:p>
                      <a:r>
                        <a:rPr kumimoji="1" lang="en-US" altLang="zh-TW" sz="1800" dirty="0">
                          <a:latin typeface="Bradley Hand" pitchFamily="2" charset="0"/>
                        </a:rPr>
                        <a:t>221</a:t>
                      </a:r>
                    </a:p>
                    <a:p>
                      <a:r>
                        <a:rPr kumimoji="1" lang="en-US" altLang="zh-TW" sz="1800" dirty="0">
                          <a:latin typeface="Bradley Hand" pitchFamily="2" charset="0"/>
                        </a:rPr>
                        <a:t>222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Bradley Hand" pitchFamily="2" charset="0"/>
                        </a:rPr>
                        <a:t>6</a:t>
                      </a:r>
                      <a:endParaRPr lang="zh-TW" altLang="en-US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8748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10">
                <a:extLst>
                  <a:ext uri="{FF2B5EF4-FFF2-40B4-BE49-F238E27FC236}">
                    <a16:creationId xmlns:a16="http://schemas.microsoft.com/office/drawing/2014/main" id="{9EC29937-B809-25D6-7B5C-93B681D63D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3086256"/>
                  </p:ext>
                </p:extLst>
              </p:nvPr>
            </p:nvGraphicFramePr>
            <p:xfrm>
              <a:off x="3267295" y="1311447"/>
              <a:ext cx="6355613" cy="423510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047322">
                      <a:extLst>
                        <a:ext uri="{9D8B030D-6E8A-4147-A177-3AD203B41FA5}">
                          <a16:colId xmlns:a16="http://schemas.microsoft.com/office/drawing/2014/main" val="2617372723"/>
                        </a:ext>
                      </a:extLst>
                    </a:gridCol>
                    <a:gridCol w="3189753">
                      <a:extLst>
                        <a:ext uri="{9D8B030D-6E8A-4147-A177-3AD203B41FA5}">
                          <a16:colId xmlns:a16="http://schemas.microsoft.com/office/drawing/2014/main" val="1375081608"/>
                        </a:ext>
                      </a:extLst>
                    </a:gridCol>
                    <a:gridCol w="2118538">
                      <a:extLst>
                        <a:ext uri="{9D8B030D-6E8A-4147-A177-3AD203B41FA5}">
                          <a16:colId xmlns:a16="http://schemas.microsoft.com/office/drawing/2014/main" val="1460271394"/>
                        </a:ext>
                      </a:extLst>
                    </a:gridCol>
                  </a:tblGrid>
                  <a:tr h="1411702">
                    <a:tc>
                      <a:txBody>
                        <a:bodyPr/>
                        <a:lstStyle/>
                        <a:p>
                          <a:r>
                            <a:rPr lang="en-US" altLang="zh-TW" sz="3200" dirty="0">
                              <a:latin typeface="Bradley Hand" pitchFamily="2" charset="0"/>
                            </a:rPr>
                            <a:t>0</a:t>
                          </a:r>
                          <a:endParaRPr lang="zh-TW" altLang="en-US" sz="32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zh-TW" altLang="en-US" sz="24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19/3</a:t>
                          </a:r>
                        </a:p>
                        <a:p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Max=9</a:t>
                          </a:r>
                          <a:endParaRPr lang="zh-TW" altLang="en-US" sz="24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3669302"/>
                      </a:ext>
                    </a:extLst>
                  </a:tr>
                  <a:tr h="1411702">
                    <a:tc>
                      <a:txBody>
                        <a:bodyPr/>
                        <a:lstStyle/>
                        <a:p>
                          <a:r>
                            <a:rPr lang="en-US" altLang="zh-TW" sz="3200" dirty="0">
                              <a:latin typeface="Bradley Hand" pitchFamily="2" charset="0"/>
                            </a:rPr>
                            <a:t>1</a:t>
                          </a:r>
                          <a:endParaRPr lang="zh-TW" altLang="en-US" sz="32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</m:oMath>
                            </m:oMathPara>
                          </a14:m>
                          <a:endParaRPr lang="zh-TW" altLang="en-US" sz="24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17/3</a:t>
                          </a:r>
                        </a:p>
                        <a:p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Max=7</a:t>
                          </a:r>
                          <a:endParaRPr lang="zh-TW" altLang="en-US" sz="24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900698"/>
                      </a:ext>
                    </a:extLst>
                  </a:tr>
                  <a:tr h="1411702">
                    <a:tc>
                      <a:txBody>
                        <a:bodyPr/>
                        <a:lstStyle/>
                        <a:p>
                          <a:r>
                            <a:rPr lang="en-US" altLang="zh-TW" sz="3200" dirty="0">
                              <a:latin typeface="Bradley Hand" pitchFamily="2" charset="0"/>
                            </a:rPr>
                            <a:t>2</a:t>
                          </a:r>
                          <a:endParaRPr lang="zh-TW" altLang="en-US" sz="32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altLang="zh-TW" sz="2400" b="1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TW" sz="24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zh-TW" altLang="en-US" sz="24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14/3</a:t>
                          </a:r>
                        </a:p>
                        <a:p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Max=6</a:t>
                          </a:r>
                          <a:endParaRPr lang="zh-TW" altLang="en-US" sz="24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50992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10">
                <a:extLst>
                  <a:ext uri="{FF2B5EF4-FFF2-40B4-BE49-F238E27FC236}">
                    <a16:creationId xmlns:a16="http://schemas.microsoft.com/office/drawing/2014/main" id="{9EC29937-B809-25D6-7B5C-93B681D63D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3086256"/>
                  </p:ext>
                </p:extLst>
              </p:nvPr>
            </p:nvGraphicFramePr>
            <p:xfrm>
              <a:off x="3267295" y="1311447"/>
              <a:ext cx="6355613" cy="423510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1047322">
                      <a:extLst>
                        <a:ext uri="{9D8B030D-6E8A-4147-A177-3AD203B41FA5}">
                          <a16:colId xmlns:a16="http://schemas.microsoft.com/office/drawing/2014/main" val="2617372723"/>
                        </a:ext>
                      </a:extLst>
                    </a:gridCol>
                    <a:gridCol w="3189753">
                      <a:extLst>
                        <a:ext uri="{9D8B030D-6E8A-4147-A177-3AD203B41FA5}">
                          <a16:colId xmlns:a16="http://schemas.microsoft.com/office/drawing/2014/main" val="1375081608"/>
                        </a:ext>
                      </a:extLst>
                    </a:gridCol>
                    <a:gridCol w="2118538">
                      <a:extLst>
                        <a:ext uri="{9D8B030D-6E8A-4147-A177-3AD203B41FA5}">
                          <a16:colId xmlns:a16="http://schemas.microsoft.com/office/drawing/2014/main" val="1460271394"/>
                        </a:ext>
                      </a:extLst>
                    </a:gridCol>
                  </a:tblGrid>
                  <a:tr h="1411702">
                    <a:tc>
                      <a:txBody>
                        <a:bodyPr/>
                        <a:lstStyle/>
                        <a:p>
                          <a:r>
                            <a:rPr lang="en-US" altLang="zh-TW" sz="3200" dirty="0">
                              <a:latin typeface="Bradley Hand" pitchFamily="2" charset="0"/>
                            </a:rPr>
                            <a:t>0</a:t>
                          </a:r>
                          <a:endParaRPr lang="zh-TW" altLang="en-US" sz="32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33466" t="-6306" r="-66932" b="-2018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19/3</a:t>
                          </a:r>
                        </a:p>
                        <a:p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Max=9</a:t>
                          </a:r>
                          <a:endParaRPr lang="zh-TW" altLang="en-US" sz="24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3669302"/>
                      </a:ext>
                    </a:extLst>
                  </a:tr>
                  <a:tr h="1411702">
                    <a:tc>
                      <a:txBody>
                        <a:bodyPr/>
                        <a:lstStyle/>
                        <a:p>
                          <a:r>
                            <a:rPr lang="en-US" altLang="zh-TW" sz="3200" dirty="0">
                              <a:latin typeface="Bradley Hand" pitchFamily="2" charset="0"/>
                            </a:rPr>
                            <a:t>1</a:t>
                          </a:r>
                          <a:endParaRPr lang="zh-TW" altLang="en-US" sz="32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33466" t="-105357" r="-66932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17/3</a:t>
                          </a:r>
                        </a:p>
                        <a:p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Max=7</a:t>
                          </a:r>
                          <a:endParaRPr lang="zh-TW" altLang="en-US" sz="24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900698"/>
                      </a:ext>
                    </a:extLst>
                  </a:tr>
                  <a:tr h="1411702">
                    <a:tc>
                      <a:txBody>
                        <a:bodyPr/>
                        <a:lstStyle/>
                        <a:p>
                          <a:r>
                            <a:rPr lang="en-US" altLang="zh-TW" sz="3200" dirty="0">
                              <a:latin typeface="Bradley Hand" pitchFamily="2" charset="0"/>
                            </a:rPr>
                            <a:t>2</a:t>
                          </a:r>
                          <a:endParaRPr lang="zh-TW" altLang="en-US" sz="32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33466" t="-207207" r="-66932" b="-9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14/3</a:t>
                          </a:r>
                        </a:p>
                        <a:p>
                          <a:endParaRPr lang="en-US" altLang="zh-TW" sz="2400" dirty="0">
                            <a:latin typeface="Bradley Hand" pitchFamily="2" charset="0"/>
                          </a:endParaRPr>
                        </a:p>
                        <a:p>
                          <a:r>
                            <a:rPr lang="en-US" altLang="zh-TW" sz="2400" dirty="0">
                              <a:latin typeface="Bradley Hand" pitchFamily="2" charset="0"/>
                            </a:rPr>
                            <a:t>Max=6</a:t>
                          </a:r>
                          <a:endParaRPr lang="zh-TW" altLang="en-US" sz="2400" dirty="0">
                            <a:latin typeface="Bradley Hand" pitchFamily="2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50992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803202D0-15BC-219F-D5AE-41A876C7BEE4}"/>
              </a:ext>
            </a:extLst>
          </p:cNvPr>
          <p:cNvSpPr txBox="1"/>
          <p:nvPr/>
        </p:nvSpPr>
        <p:spPr>
          <a:xfrm>
            <a:off x="4493362" y="5881209"/>
            <a:ext cx="3903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2 </a:t>
            </a:r>
            <a:r>
              <a:rPr kumimoji="1" lang="en-US" altLang="zh-TW" sz="2400" dirty="0" err="1">
                <a:latin typeface="Bradley Hand" pitchFamily="2" charset="0"/>
              </a:rPr>
              <a:t>ist</a:t>
            </a:r>
            <a:r>
              <a:rPr kumimoji="1" lang="en-US" altLang="zh-TW" sz="2400" dirty="0">
                <a:latin typeface="Bradley Hand" pitchFamily="2" charset="0"/>
              </a:rPr>
              <a:t> am </a:t>
            </a:r>
            <a:r>
              <a:rPr kumimoji="1" lang="en-US" altLang="zh-TW" sz="2400" dirty="0" err="1">
                <a:latin typeface="Bradley Hand" pitchFamily="2" charset="0"/>
              </a:rPr>
              <a:t>besten</a:t>
            </a:r>
            <a:endParaRPr kumimoji="1" lang="zh-TW" altLang="en-US" sz="2400" dirty="0">
              <a:latin typeface="Bradley Ha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4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1800CFC6-EB18-CFA4-80C1-308674C3FD41}"/>
              </a:ext>
            </a:extLst>
          </p:cNvPr>
          <p:cNvSpPr txBox="1"/>
          <p:nvPr/>
        </p:nvSpPr>
        <p:spPr>
          <a:xfrm>
            <a:off x="699091" y="618092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Vereinfachter Fall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51F51B7-B1ED-2BF9-EC6D-78FD8057E147}"/>
              </a:ext>
            </a:extLst>
          </p:cNvPr>
          <p:cNvSpPr txBox="1"/>
          <p:nvPr/>
        </p:nvSpPr>
        <p:spPr>
          <a:xfrm>
            <a:off x="2484917" y="1957518"/>
            <a:ext cx="72221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400" b="1" dirty="0">
                <a:latin typeface="Bradley Hand" pitchFamily="2" charset="0"/>
              </a:rPr>
              <a:t>Welche dreistellige Zahl sollte man als ersten Tipp wählen, um die beste Ausgangsposition zu haben?</a:t>
            </a:r>
            <a:endParaRPr lang="zh-TW" altLang="en-US" sz="2400" b="1" dirty="0">
              <a:latin typeface="Bradley Hand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581B282-20BD-8C5E-0395-6D311A7D0650}"/>
              </a:ext>
            </a:extLst>
          </p:cNvPr>
          <p:cNvSpPr txBox="1"/>
          <p:nvPr/>
        </p:nvSpPr>
        <p:spPr>
          <a:xfrm>
            <a:off x="4552505" y="3742660"/>
            <a:ext cx="30869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dirty="0">
                <a:latin typeface="Bradley Hand" pitchFamily="2" charset="0"/>
              </a:rPr>
              <a:t>210 ?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97006E50-B345-D664-1FF1-D7FE67705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0F5F7323-2248-C360-533A-B32E7ECC780D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Vereinfachter Fall</a:t>
            </a:r>
            <a:endParaRPr lang="zh-TW" altLang="en-US" sz="2800" dirty="0">
              <a:latin typeface="Bradley Hand" pitchFamily="2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9B7404D-EE72-8C98-BCA6-37DBE6718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807646"/>
              </p:ext>
            </p:extLst>
          </p:nvPr>
        </p:nvGraphicFramePr>
        <p:xfrm>
          <a:off x="639273" y="1521688"/>
          <a:ext cx="4302916" cy="1682496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556760">
                  <a:extLst>
                    <a:ext uri="{9D8B030D-6E8A-4147-A177-3AD203B41FA5}">
                      <a16:colId xmlns:a16="http://schemas.microsoft.com/office/drawing/2014/main" val="94970857"/>
                    </a:ext>
                  </a:extLst>
                </a:gridCol>
                <a:gridCol w="2746156">
                  <a:extLst>
                    <a:ext uri="{9D8B030D-6E8A-4147-A177-3AD203B41FA5}">
                      <a16:colId xmlns:a16="http://schemas.microsoft.com/office/drawing/2014/main" val="19205122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 err="1">
                          <a:effectLst/>
                          <a:latin typeface="Bradley Hand" pitchFamily="2" charset="0"/>
                        </a:rPr>
                        <a:t>Anfang</a:t>
                      </a: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: 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000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2871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×√√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Bradley Hand" pitchFamily="2" charset="0"/>
                        </a:rPr>
                        <a:t>100, 200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1611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××√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110, 210, 220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943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×××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111, 211, 221, 222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391086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9A9C985-FA20-B70D-90B0-2F1CAD0C0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305015"/>
              </p:ext>
            </p:extLst>
          </p:nvPr>
        </p:nvGraphicFramePr>
        <p:xfrm>
          <a:off x="622919" y="3648501"/>
          <a:ext cx="4319270" cy="2523744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157095">
                  <a:extLst>
                    <a:ext uri="{9D8B030D-6E8A-4147-A177-3AD203B41FA5}">
                      <a16:colId xmlns:a16="http://schemas.microsoft.com/office/drawing/2014/main" val="1951049850"/>
                    </a:ext>
                  </a:extLst>
                </a:gridCol>
                <a:gridCol w="2162175">
                  <a:extLst>
                    <a:ext uri="{9D8B030D-6E8A-4147-A177-3AD203B41FA5}">
                      <a16:colId xmlns:a16="http://schemas.microsoft.com/office/drawing/2014/main" val="2997916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 err="1">
                          <a:effectLst/>
                          <a:latin typeface="Bradley Hand" pitchFamily="2" charset="0"/>
                        </a:rPr>
                        <a:t>Anfang</a:t>
                      </a: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: 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b="1" kern="100" dirty="0">
                          <a:effectLst/>
                          <a:latin typeface="Bradley Hand" pitchFamily="2" charset="0"/>
                        </a:rPr>
                        <a:t>100</a:t>
                      </a:r>
                      <a:endParaRPr lang="zh-TW" sz="2400" b="1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72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×√√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Bradley Hand" pitchFamily="2" charset="0"/>
                        </a:rPr>
                        <a:t>000, 200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6926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××√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Bradley Hand" pitchFamily="2" charset="0"/>
                        </a:rPr>
                        <a:t>210, 220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0673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×××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211, 221, 222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0572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√×√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Bradley Hand" pitchFamily="2" charset="0"/>
                        </a:rPr>
                        <a:t>110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2331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√××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111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0305468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1ADDCBB-AB60-7064-5CA8-E50F05FFC600}"/>
              </a:ext>
            </a:extLst>
          </p:cNvPr>
          <p:cNvSpPr txBox="1"/>
          <p:nvPr/>
        </p:nvSpPr>
        <p:spPr>
          <a:xfrm>
            <a:off x="10426204" y="415035"/>
            <a:ext cx="114287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000" dirty="0">
                <a:latin typeface="Bradley Hand" pitchFamily="2" charset="0"/>
              </a:rPr>
              <a:t>000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222</a:t>
            </a:r>
            <a:endParaRPr kumimoji="1" lang="zh-TW" altLang="en-US" sz="4000" dirty="0">
              <a:latin typeface="Bradley Hand" pitchFamily="2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BB532E2-FF54-24C0-9996-74E96025373D}"/>
              </a:ext>
            </a:extLst>
          </p:cNvPr>
          <p:cNvSpPr txBox="1"/>
          <p:nvPr/>
        </p:nvSpPr>
        <p:spPr>
          <a:xfrm>
            <a:off x="5539563" y="2030819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2.9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E91A215-565A-DE05-8751-409D795F9687}"/>
              </a:ext>
            </a:extLst>
          </p:cNvPr>
          <p:cNvSpPr txBox="1"/>
          <p:nvPr/>
        </p:nvSpPr>
        <p:spPr>
          <a:xfrm>
            <a:off x="8984116" y="2030819"/>
            <a:ext cx="81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4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BD6AC38-94A9-F0F0-524B-89B74568B8EF}"/>
              </a:ext>
            </a:extLst>
          </p:cNvPr>
          <p:cNvSpPr txBox="1"/>
          <p:nvPr/>
        </p:nvSpPr>
        <p:spPr>
          <a:xfrm>
            <a:off x="5539563" y="4458587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1.9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00AB1BF-67D9-3119-6C79-4BB7B28199DA}"/>
              </a:ext>
            </a:extLst>
          </p:cNvPr>
          <p:cNvSpPr txBox="1"/>
          <p:nvPr/>
        </p:nvSpPr>
        <p:spPr>
          <a:xfrm>
            <a:off x="8984116" y="4458587"/>
            <a:ext cx="81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3</a:t>
            </a:r>
            <a:endParaRPr kumimoji="1" lang="zh-TW" altLang="en-US" sz="3200" dirty="0">
              <a:latin typeface="Bradley Hand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5659F41-1244-2464-93F5-31DFD6863E8A}"/>
                  </a:ext>
                </a:extLst>
              </p:cNvPr>
              <p:cNvSpPr txBox="1"/>
              <p:nvPr/>
            </p:nvSpPr>
            <p:spPr>
              <a:xfrm>
                <a:off x="4496443" y="558491"/>
                <a:ext cx="3090043" cy="7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𝑬𝒙𝒑𝑹𝒆𝒎</m:t>
                      </m:r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kumimoji="1" lang="zh-TW" altLang="en-US" b="1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5659F41-1244-2464-93F5-31DFD6863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443" y="558491"/>
                <a:ext cx="3090043" cy="769313"/>
              </a:xfrm>
              <a:prstGeom prst="rect">
                <a:avLst/>
              </a:prstGeom>
              <a:blipFill>
                <a:blip r:embed="rId2"/>
                <a:stretch>
                  <a:fillRect t="-122951" b="-168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3F8DC15-31B1-FAB8-4A88-32E74F547E8E}"/>
                  </a:ext>
                </a:extLst>
              </p:cNvPr>
              <p:cNvSpPr txBox="1"/>
              <p:nvPr/>
            </p:nvSpPr>
            <p:spPr>
              <a:xfrm>
                <a:off x="7646095" y="744985"/>
                <a:ext cx="2660892" cy="396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de-DE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𝑾𝒐𝒓𝒔𝒕𝑹𝒆𝒎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kumimoji="1" lang="zh-TW" altLang="en-US" b="1" i="1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3F8DC15-31B1-FAB8-4A88-32E74F547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095" y="744985"/>
                <a:ext cx="2660892" cy="396327"/>
              </a:xfrm>
              <a:prstGeom prst="rect">
                <a:avLst/>
              </a:prstGeom>
              <a:blipFill>
                <a:blip r:embed="rId3"/>
                <a:stretch>
                  <a:fillRect l="-948" r="-2370" b="-18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07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995DCD5-EBF5-EE0A-3CEE-D00262FAE776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Vereinfachter Fall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3CDEC7E-1BB8-2601-80CD-B516915D47B4}"/>
              </a:ext>
            </a:extLst>
          </p:cNvPr>
          <p:cNvSpPr txBox="1"/>
          <p:nvPr/>
        </p:nvSpPr>
        <p:spPr>
          <a:xfrm>
            <a:off x="10426204" y="415035"/>
            <a:ext cx="114287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000" dirty="0">
                <a:latin typeface="Bradley Hand" pitchFamily="2" charset="0"/>
              </a:rPr>
              <a:t>000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222</a:t>
            </a:r>
            <a:endParaRPr kumimoji="1" lang="zh-TW" altLang="en-US" sz="4000" dirty="0">
              <a:latin typeface="Bradley Hand" pitchFamily="2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C9C7427-BEAC-D25A-1976-0CAB518E3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636911"/>
              </p:ext>
            </p:extLst>
          </p:nvPr>
        </p:nvGraphicFramePr>
        <p:xfrm>
          <a:off x="622918" y="1179292"/>
          <a:ext cx="4416914" cy="2552732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705612">
                  <a:extLst>
                    <a:ext uri="{9D8B030D-6E8A-4147-A177-3AD203B41FA5}">
                      <a16:colId xmlns:a16="http://schemas.microsoft.com/office/drawing/2014/main" val="191821105"/>
                    </a:ext>
                  </a:extLst>
                </a:gridCol>
                <a:gridCol w="2711302">
                  <a:extLst>
                    <a:ext uri="{9D8B030D-6E8A-4147-A177-3AD203B41FA5}">
                      <a16:colId xmlns:a16="http://schemas.microsoft.com/office/drawing/2014/main" val="1503771219"/>
                    </a:ext>
                  </a:extLst>
                </a:gridCol>
              </a:tblGrid>
              <a:tr h="364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 err="1">
                          <a:effectLst/>
                          <a:latin typeface="Bradley Hand" pitchFamily="2" charset="0"/>
                        </a:rPr>
                        <a:t>Anfang</a:t>
                      </a: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: 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110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0872783"/>
                  </a:ext>
                </a:extLst>
              </a:tr>
              <a:tr h="364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×√√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210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9204250"/>
                  </a:ext>
                </a:extLst>
              </a:tr>
              <a:tr h="364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××√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000, 200, 220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9674105"/>
                  </a:ext>
                </a:extLst>
              </a:tr>
              <a:tr h="364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×××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221, 222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3451278"/>
                  </a:ext>
                </a:extLst>
              </a:tr>
              <a:tr h="364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√×√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100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5892234"/>
                  </a:ext>
                </a:extLst>
              </a:tr>
              <a:tr h="364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√√×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111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4248894"/>
                  </a:ext>
                </a:extLst>
              </a:tr>
              <a:tr h="364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>
                          <a:effectLst/>
                          <a:latin typeface="Bradley Hand" pitchFamily="2" charset="0"/>
                        </a:rPr>
                        <a:t>×√×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211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173836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89E95AC-10CF-82DD-5FAF-73C33CE2E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938470"/>
              </p:ext>
            </p:extLst>
          </p:nvPr>
        </p:nvGraphicFramePr>
        <p:xfrm>
          <a:off x="622918" y="3950066"/>
          <a:ext cx="4416914" cy="245364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705612">
                  <a:extLst>
                    <a:ext uri="{9D8B030D-6E8A-4147-A177-3AD203B41FA5}">
                      <a16:colId xmlns:a16="http://schemas.microsoft.com/office/drawing/2014/main" val="3735669000"/>
                    </a:ext>
                  </a:extLst>
                </a:gridCol>
                <a:gridCol w="2711302">
                  <a:extLst>
                    <a:ext uri="{9D8B030D-6E8A-4147-A177-3AD203B41FA5}">
                      <a16:colId xmlns:a16="http://schemas.microsoft.com/office/drawing/2014/main" val="3492537071"/>
                    </a:ext>
                  </a:extLst>
                </a:gridCol>
              </a:tblGrid>
              <a:tr h="327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 err="1">
                          <a:effectLst/>
                          <a:latin typeface="Bradley Hand" pitchFamily="2" charset="0"/>
                        </a:rPr>
                        <a:t>Anfang</a:t>
                      </a: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: 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111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6423127"/>
                  </a:ext>
                </a:extLst>
              </a:tr>
              <a:tr h="327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×√√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211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9296480"/>
                  </a:ext>
                </a:extLst>
              </a:tr>
              <a:tr h="327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××√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221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1332541"/>
                  </a:ext>
                </a:extLst>
              </a:tr>
              <a:tr h="3272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×××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000, 200, 220, 222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2533385"/>
                  </a:ext>
                </a:extLst>
              </a:tr>
              <a:tr h="327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√√×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110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9438215"/>
                  </a:ext>
                </a:extLst>
              </a:tr>
              <a:tr h="327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>
                          <a:effectLst/>
                          <a:latin typeface="Bradley Hand" pitchFamily="2" charset="0"/>
                        </a:rPr>
                        <a:t>×√×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210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2850433"/>
                  </a:ext>
                </a:extLst>
              </a:tr>
              <a:tr h="327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√××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100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72834911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7BF11C-56A2-6157-203B-3046AD9DF248}"/>
              </a:ext>
            </a:extLst>
          </p:cNvPr>
          <p:cNvSpPr txBox="1"/>
          <p:nvPr/>
        </p:nvSpPr>
        <p:spPr>
          <a:xfrm>
            <a:off x="5691963" y="4884498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2.1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E9853A3-3973-C374-2460-A24177F31CA1}"/>
              </a:ext>
            </a:extLst>
          </p:cNvPr>
          <p:cNvSpPr txBox="1"/>
          <p:nvPr/>
        </p:nvSpPr>
        <p:spPr>
          <a:xfrm>
            <a:off x="9136516" y="4884498"/>
            <a:ext cx="81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4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FEFEDDB-933F-5FE7-EB02-4FA7E448A37C}"/>
              </a:ext>
            </a:extLst>
          </p:cNvPr>
          <p:cNvSpPr txBox="1"/>
          <p:nvPr/>
        </p:nvSpPr>
        <p:spPr>
          <a:xfrm>
            <a:off x="5691963" y="2183219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1.7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AE7EE31-9068-064A-A19A-333C81E74ECB}"/>
              </a:ext>
            </a:extLst>
          </p:cNvPr>
          <p:cNvSpPr txBox="1"/>
          <p:nvPr/>
        </p:nvSpPr>
        <p:spPr>
          <a:xfrm>
            <a:off x="9136516" y="2183219"/>
            <a:ext cx="81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3</a:t>
            </a:r>
            <a:endParaRPr kumimoji="1" lang="zh-TW" altLang="en-US" sz="3200" dirty="0">
              <a:latin typeface="Bradley Hand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8EBF20EF-6FBC-06DA-D0F5-0F3F9734E5D6}"/>
                  </a:ext>
                </a:extLst>
              </p:cNvPr>
              <p:cNvSpPr txBox="1"/>
              <p:nvPr/>
            </p:nvSpPr>
            <p:spPr>
              <a:xfrm>
                <a:off x="4496443" y="558491"/>
                <a:ext cx="3090043" cy="7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𝑬𝒙𝒑𝑹𝒆𝒎</m:t>
                      </m:r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kumimoji="1" lang="zh-TW" altLang="en-US" b="1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8EBF20EF-6FBC-06DA-D0F5-0F3F9734E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443" y="558491"/>
                <a:ext cx="3090043" cy="769313"/>
              </a:xfrm>
              <a:prstGeom prst="rect">
                <a:avLst/>
              </a:prstGeom>
              <a:blipFill>
                <a:blip r:embed="rId2"/>
                <a:stretch>
                  <a:fillRect t="-122951" b="-168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5115104-260D-9BCC-FA9A-C597C2245725}"/>
                  </a:ext>
                </a:extLst>
              </p:cNvPr>
              <p:cNvSpPr txBox="1"/>
              <p:nvPr/>
            </p:nvSpPr>
            <p:spPr>
              <a:xfrm>
                <a:off x="7646095" y="744985"/>
                <a:ext cx="2660892" cy="396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de-DE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𝑾𝒐𝒓𝒔𝒕𝑹𝒆𝒎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kumimoji="1" lang="zh-TW" altLang="en-US" b="1" i="1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5115104-260D-9BCC-FA9A-C597C2245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095" y="744985"/>
                <a:ext cx="2660892" cy="396327"/>
              </a:xfrm>
              <a:prstGeom prst="rect">
                <a:avLst/>
              </a:prstGeom>
              <a:blipFill>
                <a:blip r:embed="rId3"/>
                <a:stretch>
                  <a:fillRect l="-948" r="-2370" b="-18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535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9B339F1-7C2C-FA9B-4AB2-45984BE38A1E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Vereinfachter Fall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0ACB808-5802-D4C1-0195-19C9D6B9D4E8}"/>
              </a:ext>
            </a:extLst>
          </p:cNvPr>
          <p:cNvSpPr txBox="1"/>
          <p:nvPr/>
        </p:nvSpPr>
        <p:spPr>
          <a:xfrm>
            <a:off x="10426204" y="415035"/>
            <a:ext cx="114287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000" dirty="0">
                <a:latin typeface="Bradley Hand" pitchFamily="2" charset="0"/>
              </a:rPr>
              <a:t>000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222</a:t>
            </a:r>
            <a:endParaRPr kumimoji="1" lang="zh-TW" altLang="en-US" sz="4000" dirty="0">
              <a:latin typeface="Bradley Hand" pitchFamily="2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F733611-976F-D88B-22A5-C1E46E05C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23370"/>
              </p:ext>
            </p:extLst>
          </p:nvPr>
        </p:nvGraphicFramePr>
        <p:xfrm>
          <a:off x="543924" y="1562067"/>
          <a:ext cx="4314190" cy="210312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157095">
                  <a:extLst>
                    <a:ext uri="{9D8B030D-6E8A-4147-A177-3AD203B41FA5}">
                      <a16:colId xmlns:a16="http://schemas.microsoft.com/office/drawing/2014/main" val="1065932299"/>
                    </a:ext>
                  </a:extLst>
                </a:gridCol>
                <a:gridCol w="2157095">
                  <a:extLst>
                    <a:ext uri="{9D8B030D-6E8A-4147-A177-3AD203B41FA5}">
                      <a16:colId xmlns:a16="http://schemas.microsoft.com/office/drawing/2014/main" val="1373272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 err="1">
                          <a:effectLst/>
                          <a:latin typeface="Bradley Hand" pitchFamily="2" charset="0"/>
                        </a:rPr>
                        <a:t>Anfang</a:t>
                      </a: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: 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200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0929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×√√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000, 100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9229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××√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110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9203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×××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111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4979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√×√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210, 220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6047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√××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211, 221, 222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9421896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4759F02-7492-A45F-A4E7-5BE4FC774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66376"/>
              </p:ext>
            </p:extLst>
          </p:nvPr>
        </p:nvGraphicFramePr>
        <p:xfrm>
          <a:off x="513690" y="4085942"/>
          <a:ext cx="4314190" cy="245364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157095">
                  <a:extLst>
                    <a:ext uri="{9D8B030D-6E8A-4147-A177-3AD203B41FA5}">
                      <a16:colId xmlns:a16="http://schemas.microsoft.com/office/drawing/2014/main" val="1555203622"/>
                    </a:ext>
                  </a:extLst>
                </a:gridCol>
                <a:gridCol w="2157095">
                  <a:extLst>
                    <a:ext uri="{9D8B030D-6E8A-4147-A177-3AD203B41FA5}">
                      <a16:colId xmlns:a16="http://schemas.microsoft.com/office/drawing/2014/main" val="3895143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 err="1">
                          <a:effectLst/>
                          <a:latin typeface="Bradley Hand" pitchFamily="2" charset="0"/>
                        </a:rPr>
                        <a:t>Anfang</a:t>
                      </a: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: 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210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8820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×√√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110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707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××√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000, 100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2990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√×√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200, 220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8225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√√×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211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2320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>
                          <a:effectLst/>
                          <a:latin typeface="Bradley Hand" pitchFamily="2" charset="0"/>
                        </a:rPr>
                        <a:t>×√×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111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8808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>
                          <a:effectLst/>
                          <a:latin typeface="Bradley Hand" pitchFamily="2" charset="0"/>
                        </a:rPr>
                        <a:t>√××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221, 222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4288838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78DD5F10-8DB3-F582-8FD5-8474604E4E43}"/>
              </a:ext>
            </a:extLst>
          </p:cNvPr>
          <p:cNvSpPr txBox="1"/>
          <p:nvPr/>
        </p:nvSpPr>
        <p:spPr>
          <a:xfrm>
            <a:off x="5691963" y="2183219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1.9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A717C95-E6BE-DDB6-9F70-E006E8926906}"/>
              </a:ext>
            </a:extLst>
          </p:cNvPr>
          <p:cNvSpPr txBox="1"/>
          <p:nvPr/>
        </p:nvSpPr>
        <p:spPr>
          <a:xfrm>
            <a:off x="9136516" y="2183219"/>
            <a:ext cx="81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3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64ABDA-1CC9-1053-4CB7-522EEEBED6E9}"/>
              </a:ext>
            </a:extLst>
          </p:cNvPr>
          <p:cNvSpPr txBox="1"/>
          <p:nvPr/>
        </p:nvSpPr>
        <p:spPr>
          <a:xfrm>
            <a:off x="5691963" y="4919330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1.5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BC990ED-DB2F-F1D0-DF9F-A919C244FCCC}"/>
              </a:ext>
            </a:extLst>
          </p:cNvPr>
          <p:cNvSpPr txBox="1"/>
          <p:nvPr/>
        </p:nvSpPr>
        <p:spPr>
          <a:xfrm>
            <a:off x="9136516" y="4919330"/>
            <a:ext cx="81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2</a:t>
            </a:r>
            <a:endParaRPr kumimoji="1" lang="zh-TW" altLang="en-US" sz="3200" dirty="0">
              <a:latin typeface="Bradley Hand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E38CF7A-E7A4-9C30-40F4-44A39DA9AD5F}"/>
                  </a:ext>
                </a:extLst>
              </p:cNvPr>
              <p:cNvSpPr txBox="1"/>
              <p:nvPr/>
            </p:nvSpPr>
            <p:spPr>
              <a:xfrm>
                <a:off x="4496443" y="558491"/>
                <a:ext cx="3090043" cy="7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𝑬𝒙𝒑𝑹𝒆𝒎</m:t>
                      </m:r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kumimoji="1" lang="zh-TW" altLang="en-US" b="1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E38CF7A-E7A4-9C30-40F4-44A39DA9A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443" y="558491"/>
                <a:ext cx="3090043" cy="769313"/>
              </a:xfrm>
              <a:prstGeom prst="rect">
                <a:avLst/>
              </a:prstGeom>
              <a:blipFill>
                <a:blip r:embed="rId2"/>
                <a:stretch>
                  <a:fillRect t="-122951" b="-168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5ACACF65-E30B-DEBB-69D7-05782B704B5D}"/>
                  </a:ext>
                </a:extLst>
              </p:cNvPr>
              <p:cNvSpPr txBox="1"/>
              <p:nvPr/>
            </p:nvSpPr>
            <p:spPr>
              <a:xfrm>
                <a:off x="7646095" y="744985"/>
                <a:ext cx="2660892" cy="396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de-DE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𝑾𝒐𝒓𝒔𝒕𝑹𝒆𝒎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kumimoji="1" lang="zh-TW" altLang="en-US" b="1" i="1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5ACACF65-E30B-DEBB-69D7-05782B704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095" y="744985"/>
                <a:ext cx="2660892" cy="396327"/>
              </a:xfrm>
              <a:prstGeom prst="rect">
                <a:avLst/>
              </a:prstGeom>
              <a:blipFill>
                <a:blip r:embed="rId3"/>
                <a:stretch>
                  <a:fillRect l="-948" r="-2370" b="-18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3001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6A6A092-B500-ADED-7614-CBCF2D7E4031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Vereinfachter Fall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A8E5381-3A07-D647-7AA3-91CA86EE70CB}"/>
              </a:ext>
            </a:extLst>
          </p:cNvPr>
          <p:cNvSpPr txBox="1"/>
          <p:nvPr/>
        </p:nvSpPr>
        <p:spPr>
          <a:xfrm>
            <a:off x="10426204" y="415035"/>
            <a:ext cx="114287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000" dirty="0">
                <a:latin typeface="Bradley Hand" pitchFamily="2" charset="0"/>
              </a:rPr>
              <a:t>000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222</a:t>
            </a:r>
            <a:endParaRPr kumimoji="1" lang="zh-TW" altLang="en-US" sz="4000" dirty="0">
              <a:latin typeface="Bradley Hand" pitchFamily="2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065EFF0-B664-F586-5CEA-12C11383E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726701"/>
              </p:ext>
            </p:extLst>
          </p:nvPr>
        </p:nvGraphicFramePr>
        <p:xfrm>
          <a:off x="622919" y="1365848"/>
          <a:ext cx="4576402" cy="245364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960793">
                  <a:extLst>
                    <a:ext uri="{9D8B030D-6E8A-4147-A177-3AD203B41FA5}">
                      <a16:colId xmlns:a16="http://schemas.microsoft.com/office/drawing/2014/main" val="2656536392"/>
                    </a:ext>
                  </a:extLst>
                </a:gridCol>
                <a:gridCol w="2615609">
                  <a:extLst>
                    <a:ext uri="{9D8B030D-6E8A-4147-A177-3AD203B41FA5}">
                      <a16:colId xmlns:a16="http://schemas.microsoft.com/office/drawing/2014/main" val="864866882"/>
                    </a:ext>
                  </a:extLst>
                </a:gridCol>
              </a:tblGrid>
              <a:tr h="258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 err="1">
                          <a:effectLst/>
                          <a:latin typeface="Bradley Hand" pitchFamily="2" charset="0"/>
                        </a:rPr>
                        <a:t>Anfang</a:t>
                      </a: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: 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211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5846241"/>
                  </a:ext>
                </a:extLst>
              </a:tr>
              <a:tr h="258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×√√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111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5930356"/>
                  </a:ext>
                </a:extLst>
              </a:tr>
              <a:tr h="2583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×××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000, 100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9812320"/>
                  </a:ext>
                </a:extLst>
              </a:tr>
              <a:tr h="258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√×√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221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762517"/>
                  </a:ext>
                </a:extLst>
              </a:tr>
              <a:tr h="258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√√×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210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6867864"/>
                  </a:ext>
                </a:extLst>
              </a:tr>
              <a:tr h="258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×√×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110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987865"/>
                  </a:ext>
                </a:extLst>
              </a:tr>
              <a:tr h="258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>
                          <a:effectLst/>
                          <a:latin typeface="Bradley Hand" pitchFamily="2" charset="0"/>
                        </a:rPr>
                        <a:t>√××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200, 220, 222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6418677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028F56D-63A5-ED2F-5308-668BFF4A1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121338"/>
              </p:ext>
            </p:extLst>
          </p:nvPr>
        </p:nvGraphicFramePr>
        <p:xfrm>
          <a:off x="622918" y="4221246"/>
          <a:ext cx="4576401" cy="2222082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1960794">
                  <a:extLst>
                    <a:ext uri="{9D8B030D-6E8A-4147-A177-3AD203B41FA5}">
                      <a16:colId xmlns:a16="http://schemas.microsoft.com/office/drawing/2014/main" val="3295106880"/>
                    </a:ext>
                  </a:extLst>
                </a:gridCol>
                <a:gridCol w="2615607">
                  <a:extLst>
                    <a:ext uri="{9D8B030D-6E8A-4147-A177-3AD203B41FA5}">
                      <a16:colId xmlns:a16="http://schemas.microsoft.com/office/drawing/2014/main" val="3425475832"/>
                    </a:ext>
                  </a:extLst>
                </a:gridCol>
              </a:tblGrid>
              <a:tr h="370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 err="1">
                          <a:effectLst/>
                          <a:latin typeface="Bradley Hand" pitchFamily="2" charset="0"/>
                        </a:rPr>
                        <a:t>Anfang</a:t>
                      </a: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: 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>
                          <a:effectLst/>
                          <a:latin typeface="Bradley Hand" pitchFamily="2" charset="0"/>
                        </a:rPr>
                        <a:t>220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4633051"/>
                  </a:ext>
                </a:extLst>
              </a:tr>
              <a:tr h="370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××√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000, 100, 110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1101253"/>
                  </a:ext>
                </a:extLst>
              </a:tr>
              <a:tr h="370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×××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111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9365048"/>
                  </a:ext>
                </a:extLst>
              </a:tr>
              <a:tr h="370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√×√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200, 210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505285"/>
                  </a:ext>
                </a:extLst>
              </a:tr>
              <a:tr h="370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 dirty="0">
                          <a:effectLst/>
                          <a:latin typeface="Bradley Hand" pitchFamily="2" charset="0"/>
                        </a:rPr>
                        <a:t>√√×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221, 222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4269974"/>
                  </a:ext>
                </a:extLst>
              </a:tr>
              <a:tr h="370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000" kern="100">
                          <a:effectLst/>
                          <a:latin typeface="Bradley Hand" pitchFamily="2" charset="0"/>
                        </a:rPr>
                        <a:t>√××</a:t>
                      </a:r>
                      <a:endParaRPr lang="zh-TW" sz="20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000" kern="100" dirty="0">
                          <a:effectLst/>
                          <a:latin typeface="Bradley Hand" pitchFamily="2" charset="0"/>
                        </a:rPr>
                        <a:t>211</a:t>
                      </a:r>
                      <a:endParaRPr lang="zh-TW" sz="20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7337798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66675EAE-CE6B-EBE1-1D8F-0CC3279AA66B}"/>
              </a:ext>
            </a:extLst>
          </p:cNvPr>
          <p:cNvSpPr txBox="1"/>
          <p:nvPr/>
        </p:nvSpPr>
        <p:spPr>
          <a:xfrm>
            <a:off x="5691963" y="2183219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1.7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7B6424E-B6B3-1A37-3111-B596F2059CFD}"/>
              </a:ext>
            </a:extLst>
          </p:cNvPr>
          <p:cNvSpPr txBox="1"/>
          <p:nvPr/>
        </p:nvSpPr>
        <p:spPr>
          <a:xfrm>
            <a:off x="9136516" y="2183219"/>
            <a:ext cx="81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3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516C81D-1FE6-CD7C-2EC6-23D1EE59D31A}"/>
              </a:ext>
            </a:extLst>
          </p:cNvPr>
          <p:cNvSpPr txBox="1"/>
          <p:nvPr/>
        </p:nvSpPr>
        <p:spPr>
          <a:xfrm>
            <a:off x="5691963" y="4770474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1.9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35058F6-26AB-482B-C35D-4D7A57249D05}"/>
              </a:ext>
            </a:extLst>
          </p:cNvPr>
          <p:cNvSpPr txBox="1"/>
          <p:nvPr/>
        </p:nvSpPr>
        <p:spPr>
          <a:xfrm>
            <a:off x="9136516" y="4770474"/>
            <a:ext cx="81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3</a:t>
            </a:r>
            <a:endParaRPr kumimoji="1" lang="zh-TW" altLang="en-US" sz="3200" dirty="0">
              <a:latin typeface="Bradley Hand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E63D2F1-557C-BFA1-274A-F299DF4D3CB3}"/>
                  </a:ext>
                </a:extLst>
              </p:cNvPr>
              <p:cNvSpPr txBox="1"/>
              <p:nvPr/>
            </p:nvSpPr>
            <p:spPr>
              <a:xfrm>
                <a:off x="4496443" y="558491"/>
                <a:ext cx="3090043" cy="7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𝑬𝒙𝒑𝑹𝒆𝒎</m:t>
                      </m:r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kumimoji="1" lang="zh-TW" altLang="en-US" b="1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E63D2F1-557C-BFA1-274A-F299DF4D3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443" y="558491"/>
                <a:ext cx="3090043" cy="769313"/>
              </a:xfrm>
              <a:prstGeom prst="rect">
                <a:avLst/>
              </a:prstGeom>
              <a:blipFill>
                <a:blip r:embed="rId2"/>
                <a:stretch>
                  <a:fillRect t="-122951" b="-168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46649F8-F7A1-4350-C151-D4BF6D0DEF9C}"/>
                  </a:ext>
                </a:extLst>
              </p:cNvPr>
              <p:cNvSpPr txBox="1"/>
              <p:nvPr/>
            </p:nvSpPr>
            <p:spPr>
              <a:xfrm>
                <a:off x="7646095" y="744985"/>
                <a:ext cx="2660892" cy="396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de-DE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𝑾𝒐𝒓𝒔𝒕𝑹𝒆𝒎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kumimoji="1" lang="zh-TW" altLang="en-US" b="1" i="1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46649F8-F7A1-4350-C151-D4BF6D0DE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095" y="744985"/>
                <a:ext cx="2660892" cy="396327"/>
              </a:xfrm>
              <a:prstGeom prst="rect">
                <a:avLst/>
              </a:prstGeom>
              <a:blipFill>
                <a:blip r:embed="rId3"/>
                <a:stretch>
                  <a:fillRect l="-948" r="-2370" b="-18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811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B1C679E-C6B5-4E87-23F7-5E72EF47E0B9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Vereinfachter Fall</a:t>
            </a:r>
            <a:endParaRPr lang="zh-TW" altLang="en-US" sz="2800" dirty="0">
              <a:latin typeface="Bradley Hand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BF9F98D-7787-CC74-C7F5-20FAC612A447}"/>
                  </a:ext>
                </a:extLst>
              </p:cNvPr>
              <p:cNvSpPr txBox="1"/>
              <p:nvPr/>
            </p:nvSpPr>
            <p:spPr>
              <a:xfrm>
                <a:off x="4496443" y="558491"/>
                <a:ext cx="3090043" cy="7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𝑬𝒙𝒑𝑹𝒆𝒎</m:t>
                      </m:r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kumimoji="1" lang="zh-TW" altLang="en-US" b="1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BF9F98D-7787-CC74-C7F5-20FAC612A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443" y="558491"/>
                <a:ext cx="3090043" cy="769313"/>
              </a:xfrm>
              <a:prstGeom prst="rect">
                <a:avLst/>
              </a:prstGeom>
              <a:blipFill>
                <a:blip r:embed="rId2"/>
                <a:stretch>
                  <a:fillRect t="-122951" b="-168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20B456E-A3C8-4C0A-F27E-F1608D87A9AA}"/>
                  </a:ext>
                </a:extLst>
              </p:cNvPr>
              <p:cNvSpPr txBox="1"/>
              <p:nvPr/>
            </p:nvSpPr>
            <p:spPr>
              <a:xfrm>
                <a:off x="7646095" y="744985"/>
                <a:ext cx="2660892" cy="396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de-DE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𝑾𝒐𝒓𝒔𝒕𝑹𝒆𝒎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kumimoji="1" lang="zh-TW" altLang="en-US" b="1" i="1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20B456E-A3C8-4C0A-F27E-F1608D87A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6095" y="744985"/>
                <a:ext cx="2660892" cy="396327"/>
              </a:xfrm>
              <a:prstGeom prst="rect">
                <a:avLst/>
              </a:prstGeom>
              <a:blipFill>
                <a:blip r:embed="rId3"/>
                <a:stretch>
                  <a:fillRect l="-948" r="-2370" b="-18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8AA93DCA-B675-4A95-883A-AF774CD082A7}"/>
              </a:ext>
            </a:extLst>
          </p:cNvPr>
          <p:cNvSpPr txBox="1"/>
          <p:nvPr/>
        </p:nvSpPr>
        <p:spPr>
          <a:xfrm>
            <a:off x="10426204" y="415035"/>
            <a:ext cx="114287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4000" dirty="0">
                <a:latin typeface="Bradley Hand" pitchFamily="2" charset="0"/>
              </a:rPr>
              <a:t>000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111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200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211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220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221</a:t>
            </a:r>
          </a:p>
          <a:p>
            <a:r>
              <a:rPr kumimoji="1" lang="en-US" altLang="zh-TW" sz="4000" dirty="0">
                <a:latin typeface="Bradley Hand" pitchFamily="2" charset="0"/>
              </a:rPr>
              <a:t>222</a:t>
            </a:r>
            <a:endParaRPr kumimoji="1" lang="zh-TW" altLang="en-US" sz="4000" dirty="0">
              <a:latin typeface="Bradley Hand" pitchFamily="2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DEB8118-7C0B-6CCA-08C9-AF3CDD0EE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745847"/>
              </p:ext>
            </p:extLst>
          </p:nvPr>
        </p:nvGraphicFramePr>
        <p:xfrm>
          <a:off x="355732" y="1456781"/>
          <a:ext cx="4896752" cy="2523744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047226">
                  <a:extLst>
                    <a:ext uri="{9D8B030D-6E8A-4147-A177-3AD203B41FA5}">
                      <a16:colId xmlns:a16="http://schemas.microsoft.com/office/drawing/2014/main" val="209393198"/>
                    </a:ext>
                  </a:extLst>
                </a:gridCol>
                <a:gridCol w="2849526">
                  <a:extLst>
                    <a:ext uri="{9D8B030D-6E8A-4147-A177-3AD203B41FA5}">
                      <a16:colId xmlns:a16="http://schemas.microsoft.com/office/drawing/2014/main" val="3383276866"/>
                    </a:ext>
                  </a:extLst>
                </a:gridCol>
              </a:tblGrid>
              <a:tr h="308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 err="1">
                          <a:effectLst/>
                          <a:latin typeface="Bradley Hand" pitchFamily="2" charset="0"/>
                        </a:rPr>
                        <a:t>Anfang</a:t>
                      </a: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: 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Bradley Hand" pitchFamily="2" charset="0"/>
                        </a:rPr>
                        <a:t>221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7779383"/>
                  </a:ext>
                </a:extLst>
              </a:tr>
              <a:tr h="308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××√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Bradley Hand" pitchFamily="2" charset="0"/>
                        </a:rPr>
                        <a:t>111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5530209"/>
                  </a:ext>
                </a:extLst>
              </a:tr>
              <a:tr h="3084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×××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000, 100, 110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7252544"/>
                  </a:ext>
                </a:extLst>
              </a:tr>
              <a:tr h="308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√×√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211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9146701"/>
                  </a:ext>
                </a:extLst>
              </a:tr>
              <a:tr h="308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>
                          <a:effectLst/>
                          <a:latin typeface="Bradley Hand" pitchFamily="2" charset="0"/>
                        </a:rPr>
                        <a:t>√√×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220, 222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8144228"/>
                  </a:ext>
                </a:extLst>
              </a:tr>
              <a:tr h="3083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>
                          <a:effectLst/>
                          <a:latin typeface="Bradley Hand" pitchFamily="2" charset="0"/>
                        </a:rPr>
                        <a:t>√××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200, 210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998557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6B029AB-94AE-0B9D-344F-D2A3845B3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293136"/>
              </p:ext>
            </p:extLst>
          </p:nvPr>
        </p:nvGraphicFramePr>
        <p:xfrm>
          <a:off x="355733" y="4190465"/>
          <a:ext cx="4896751" cy="2147335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036593">
                  <a:extLst>
                    <a:ext uri="{9D8B030D-6E8A-4147-A177-3AD203B41FA5}">
                      <a16:colId xmlns:a16="http://schemas.microsoft.com/office/drawing/2014/main" val="1282935506"/>
                    </a:ext>
                  </a:extLst>
                </a:gridCol>
                <a:gridCol w="2860158">
                  <a:extLst>
                    <a:ext uri="{9D8B030D-6E8A-4147-A177-3AD203B41FA5}">
                      <a16:colId xmlns:a16="http://schemas.microsoft.com/office/drawing/2014/main" val="969657353"/>
                    </a:ext>
                  </a:extLst>
                </a:gridCol>
              </a:tblGrid>
              <a:tr h="5367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 err="1">
                          <a:effectLst/>
                          <a:latin typeface="Bradley Hand" pitchFamily="2" charset="0"/>
                        </a:rPr>
                        <a:t>Anfang</a:t>
                      </a: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: 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Bradley Hand" pitchFamily="2" charset="0"/>
                        </a:rPr>
                        <a:t>222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581649"/>
                  </a:ext>
                </a:extLst>
              </a:tr>
              <a:tr h="5369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×××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  <a:latin typeface="Bradley Hand" pitchFamily="2" charset="0"/>
                        </a:rPr>
                        <a:t>000, 100, 110, 111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8571147"/>
                  </a:ext>
                </a:extLst>
              </a:tr>
              <a:tr h="5367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 dirty="0">
                          <a:effectLst/>
                          <a:latin typeface="Bradley Hand" pitchFamily="2" charset="0"/>
                        </a:rPr>
                        <a:t>√√×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220, 221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2940103"/>
                  </a:ext>
                </a:extLst>
              </a:tr>
              <a:tr h="5367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zh-CN" sz="2400" kern="100">
                          <a:effectLst/>
                          <a:latin typeface="Bradley Hand" pitchFamily="2" charset="0"/>
                        </a:rPr>
                        <a:t>√××</a:t>
                      </a:r>
                      <a:endParaRPr lang="zh-TW" sz="2400" kern="10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  <a:latin typeface="Bradley Hand" pitchFamily="2" charset="0"/>
                        </a:rPr>
                        <a:t>200, 210, 211</a:t>
                      </a:r>
                      <a:endParaRPr lang="zh-TW" sz="2400" kern="100" dirty="0">
                        <a:effectLst/>
                        <a:latin typeface="Bradley Hand" pitchFamily="2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9141726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6351FF1A-BE15-107A-66DA-3B4D4B0BEF0F}"/>
              </a:ext>
            </a:extLst>
          </p:cNvPr>
          <p:cNvSpPr txBox="1"/>
          <p:nvPr/>
        </p:nvSpPr>
        <p:spPr>
          <a:xfrm>
            <a:off x="5691963" y="2183219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1.9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535A62C-51AC-77D0-7615-2DB5BD3CC792}"/>
              </a:ext>
            </a:extLst>
          </p:cNvPr>
          <p:cNvSpPr txBox="1"/>
          <p:nvPr/>
        </p:nvSpPr>
        <p:spPr>
          <a:xfrm>
            <a:off x="9136516" y="2183219"/>
            <a:ext cx="81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3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EC3F7BC-A271-829C-AF57-03F3190A9E01}"/>
              </a:ext>
            </a:extLst>
          </p:cNvPr>
          <p:cNvSpPr txBox="1"/>
          <p:nvPr/>
        </p:nvSpPr>
        <p:spPr>
          <a:xfrm>
            <a:off x="5709486" y="4908698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2.9</a:t>
            </a:r>
            <a:endParaRPr kumimoji="1" lang="zh-TW" altLang="en-US" sz="3200" dirty="0">
              <a:latin typeface="Bradley Hand" pitchFamily="2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BBA36EC-3877-6D41-2355-CC750C9472AA}"/>
              </a:ext>
            </a:extLst>
          </p:cNvPr>
          <p:cNvSpPr txBox="1"/>
          <p:nvPr/>
        </p:nvSpPr>
        <p:spPr>
          <a:xfrm>
            <a:off x="9154039" y="4908698"/>
            <a:ext cx="815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>
                <a:latin typeface="Bradley Hand" pitchFamily="2" charset="0"/>
              </a:rPr>
              <a:t>4</a:t>
            </a:r>
            <a:endParaRPr kumimoji="1" lang="zh-TW" altLang="en-US" sz="3200" dirty="0">
              <a:latin typeface="Bradley Ha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759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C4E7D66-9792-1D61-C352-1053B9B5958F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Vereinfachter Fall</a:t>
            </a:r>
            <a:endParaRPr lang="zh-TW" altLang="en-US" sz="2800" dirty="0">
              <a:latin typeface="Bradley Hand" pitchFamily="2" charset="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137BD91A-EAE1-6ABA-9A7A-9BE1897F4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702285"/>
              </p:ext>
            </p:extLst>
          </p:nvPr>
        </p:nvGraphicFramePr>
        <p:xfrm>
          <a:off x="2349795" y="1255469"/>
          <a:ext cx="7836196" cy="5181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41452">
                  <a:extLst>
                    <a:ext uri="{9D8B030D-6E8A-4147-A177-3AD203B41FA5}">
                      <a16:colId xmlns:a16="http://schemas.microsoft.com/office/drawing/2014/main" val="760778360"/>
                    </a:ext>
                  </a:extLst>
                </a:gridCol>
                <a:gridCol w="3009013">
                  <a:extLst>
                    <a:ext uri="{9D8B030D-6E8A-4147-A177-3AD203B41FA5}">
                      <a16:colId xmlns:a16="http://schemas.microsoft.com/office/drawing/2014/main" val="1337954741"/>
                    </a:ext>
                  </a:extLst>
                </a:gridCol>
                <a:gridCol w="2785731">
                  <a:extLst>
                    <a:ext uri="{9D8B030D-6E8A-4147-A177-3AD203B41FA5}">
                      <a16:colId xmlns:a16="http://schemas.microsoft.com/office/drawing/2014/main" val="2190956633"/>
                    </a:ext>
                  </a:extLst>
                </a:gridCol>
              </a:tblGrid>
              <a:tr h="509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latin typeface="Bradley Hand" pitchFamily="2" charset="0"/>
                        </a:rPr>
                        <a:t>000</a:t>
                      </a:r>
                      <a:endParaRPr lang="zh-TW" altLang="en-US" sz="2800" b="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latin typeface="Bradley Hand" pitchFamily="2" charset="0"/>
                        </a:rPr>
                        <a:t>2.9</a:t>
                      </a:r>
                      <a:endParaRPr lang="zh-TW" altLang="en-US" sz="2800" b="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latin typeface="Bradley Hand" pitchFamily="2" charset="0"/>
                        </a:rPr>
                        <a:t>4</a:t>
                      </a:r>
                      <a:endParaRPr lang="zh-TW" altLang="en-US" sz="2800" b="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290562"/>
                  </a:ext>
                </a:extLst>
              </a:tr>
              <a:tr h="509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100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1.9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3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084301"/>
                  </a:ext>
                </a:extLst>
              </a:tr>
              <a:tr h="509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110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1.7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3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437735"/>
                  </a:ext>
                </a:extLst>
              </a:tr>
              <a:tr h="509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111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2.1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4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507953"/>
                  </a:ext>
                </a:extLst>
              </a:tr>
              <a:tr h="509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200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1.9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3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548740"/>
                  </a:ext>
                </a:extLst>
              </a:tr>
              <a:tr h="509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210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1.5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2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383725"/>
                  </a:ext>
                </a:extLst>
              </a:tr>
              <a:tr h="509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211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1.7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3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497163"/>
                  </a:ext>
                </a:extLst>
              </a:tr>
              <a:tr h="509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220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1.9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3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11192"/>
                  </a:ext>
                </a:extLst>
              </a:tr>
              <a:tr h="509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221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1.9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3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825059"/>
                  </a:ext>
                </a:extLst>
              </a:tr>
              <a:tr h="5090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222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2.9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latin typeface="Bradley Hand" pitchFamily="2" charset="0"/>
                        </a:rPr>
                        <a:t>4</a:t>
                      </a:r>
                      <a:endParaRPr lang="zh-TW" altLang="en-US" sz="2800" dirty="0">
                        <a:latin typeface="Bradley Hand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732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E17150D-4739-436E-0FA7-3100BF020D96}"/>
                  </a:ext>
                </a:extLst>
              </p:cNvPr>
              <p:cNvSpPr txBox="1"/>
              <p:nvPr/>
            </p:nvSpPr>
            <p:spPr>
              <a:xfrm>
                <a:off x="4336955" y="486156"/>
                <a:ext cx="3090043" cy="7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𝑬𝒙𝒑𝑹𝒆𝒎</m:t>
                      </m:r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kumimoji="1" lang="zh-TW" altLang="en-US" b="1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E17150D-4739-436E-0FA7-3100BF020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955" y="486156"/>
                <a:ext cx="3090043" cy="769313"/>
              </a:xfrm>
              <a:prstGeom prst="rect">
                <a:avLst/>
              </a:prstGeom>
              <a:blipFill>
                <a:blip r:embed="rId2"/>
                <a:stretch>
                  <a:fillRect t="-122951" b="-1704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B85C23F-F046-A7E5-8E87-6B3152DDDA13}"/>
                  </a:ext>
                </a:extLst>
              </p:cNvPr>
              <p:cNvSpPr txBox="1"/>
              <p:nvPr/>
            </p:nvSpPr>
            <p:spPr>
              <a:xfrm>
                <a:off x="7486607" y="672650"/>
                <a:ext cx="2660892" cy="396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de-DE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𝑾𝒐𝒓𝒔𝒕𝑹𝒆𝒎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kumimoji="1" lang="zh-TW" altLang="en-US" b="1" i="1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B85C23F-F046-A7E5-8E87-6B3152DDD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07" y="672650"/>
                <a:ext cx="2660892" cy="396327"/>
              </a:xfrm>
              <a:prstGeom prst="rect">
                <a:avLst/>
              </a:prstGeom>
              <a:blipFill>
                <a:blip r:embed="rId3"/>
                <a:stretch>
                  <a:fillRect l="-948" r="-2370" b="-18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框架 10">
            <a:extLst>
              <a:ext uri="{FF2B5EF4-FFF2-40B4-BE49-F238E27FC236}">
                <a16:creationId xmlns:a16="http://schemas.microsoft.com/office/drawing/2014/main" id="{7FBCD25C-5FFB-5D20-8608-6889B10D9DC1}"/>
              </a:ext>
            </a:extLst>
          </p:cNvPr>
          <p:cNvSpPr/>
          <p:nvPr/>
        </p:nvSpPr>
        <p:spPr>
          <a:xfrm>
            <a:off x="2349796" y="3859619"/>
            <a:ext cx="7836196" cy="510362"/>
          </a:xfrm>
          <a:prstGeom prst="fram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682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0BFC464-C6DD-ED70-65CC-5240256553D8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Restmenge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03D33BD-8A46-7979-F811-670FB64729C0}"/>
              </a:ext>
            </a:extLst>
          </p:cNvPr>
          <p:cNvSpPr txBox="1"/>
          <p:nvPr/>
        </p:nvSpPr>
        <p:spPr>
          <a:xfrm>
            <a:off x="935001" y="1291415"/>
            <a:ext cx="6371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>
                <a:latin typeface="Bradley Hand" pitchFamily="2" charset="0"/>
              </a:rPr>
              <a:t>Beispiel</a:t>
            </a:r>
            <a:r>
              <a:rPr kumimoji="1" lang="en-US" altLang="zh-TW" sz="2000" dirty="0">
                <a:latin typeface="Bradley Hand" pitchFamily="2" charset="0"/>
              </a:rPr>
              <a:t>:</a:t>
            </a:r>
          </a:p>
          <a:p>
            <a:r>
              <a:rPr kumimoji="1" lang="en-US" altLang="zh-TW" sz="2000" dirty="0">
                <a:latin typeface="Bradley Hand" pitchFamily="2" charset="0"/>
              </a:rPr>
              <a:t>PRINT, POINT, PRISM, POWER, PRAYS, PRIME</a:t>
            </a:r>
            <a:endParaRPr kumimoji="1" lang="zh-TW" altLang="en-US" sz="2000" dirty="0">
              <a:latin typeface="Bradley Hand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4BB5338-EB5E-C3C1-75C8-4646957D0D7E}"/>
                  </a:ext>
                </a:extLst>
              </p:cNvPr>
              <p:cNvSpPr txBox="1"/>
              <p:nvPr/>
            </p:nvSpPr>
            <p:spPr>
              <a:xfrm>
                <a:off x="5689525" y="2444847"/>
                <a:ext cx="4763387" cy="271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  <m:t>𝑷𝑹𝑰𝑵𝑻</m:t>
                              </m:r>
                            </m:e>
                          </m:d>
                        </m:sub>
                      </m:sSub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kumimoji="1" lang="en-US" altLang="zh-TW" sz="28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  <m:t>𝑷𝑶𝑰𝑵𝑻</m:t>
                              </m:r>
                            </m:e>
                          </m:d>
                        </m:sub>
                      </m:sSub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TW" altLang="en-US" sz="28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  <m:t>𝑷𝑹𝑰𝑺𝑴</m:t>
                              </m:r>
                            </m:e>
                          </m:d>
                        </m:sub>
                      </m:sSub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kumimoji="1" lang="zh-TW" altLang="en-US" sz="28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  <m:t>𝑷𝑹𝑨𝒀𝑺</m:t>
                              </m:r>
                            </m:e>
                          </m:d>
                        </m:sub>
                      </m:sSub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kumimoji="1" lang="zh-TW" altLang="en-US" sz="28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  <m:t>𝑷𝑹𝑰𝑴𝑬</m:t>
                              </m:r>
                            </m:e>
                          </m:d>
                        </m:sub>
                      </m:sSub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TW" altLang="en-US" sz="2800" dirty="0">
                  <a:latin typeface="Bradley Hand" pitchFamily="2" charset="0"/>
                </a:endParaRPr>
              </a:p>
              <a:p>
                <a:endParaRPr kumimoji="1" lang="zh-TW" altLang="en-US" dirty="0">
                  <a:latin typeface="Bradley Hand" pitchFamily="2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4BB5338-EB5E-C3C1-75C8-4646957D0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525" y="2444847"/>
                <a:ext cx="4763387" cy="2716769"/>
              </a:xfrm>
              <a:prstGeom prst="rect">
                <a:avLst/>
              </a:prstGeom>
              <a:blipFill>
                <a:blip r:embed="rId2"/>
                <a:stretch>
                  <a:fillRect l="-1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C3FBDEC5-A7A1-C2DE-0622-339DC0C57B87}"/>
              </a:ext>
            </a:extLst>
          </p:cNvPr>
          <p:cNvSpPr txBox="1"/>
          <p:nvPr/>
        </p:nvSpPr>
        <p:spPr>
          <a:xfrm>
            <a:off x="1284323" y="2777181"/>
            <a:ext cx="33191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P(PRINT)=(20001)</a:t>
            </a:r>
          </a:p>
          <a:p>
            <a:r>
              <a:rPr kumimoji="1" lang="en-US" altLang="zh-TW" sz="2400" dirty="0">
                <a:latin typeface="Bradley Hand" pitchFamily="2" charset="0"/>
              </a:rPr>
              <a:t>P(POINT)=(22000)</a:t>
            </a:r>
          </a:p>
          <a:p>
            <a:r>
              <a:rPr kumimoji="1" lang="en-US" altLang="zh-TW" sz="2400" dirty="0">
                <a:latin typeface="Bradley Hand" pitchFamily="2" charset="0"/>
              </a:rPr>
              <a:t>P(PRISM)=(20001)</a:t>
            </a:r>
          </a:p>
          <a:p>
            <a:r>
              <a:rPr kumimoji="1" lang="en-US" altLang="zh-TW" sz="2400" dirty="0">
                <a:latin typeface="Bradley Hand" pitchFamily="2" charset="0"/>
              </a:rPr>
              <a:t>P(PRAYS)=(20001)</a:t>
            </a:r>
          </a:p>
          <a:p>
            <a:r>
              <a:rPr kumimoji="1" lang="en-US" altLang="zh-TW" sz="2400" dirty="0">
                <a:latin typeface="Bradley Hand" pitchFamily="2" charset="0"/>
              </a:rPr>
              <a:t>P(PRIME)=(20011)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CF9A62-DB68-EAC6-1AAB-DBF472FCD6B3}"/>
              </a:ext>
            </a:extLst>
          </p:cNvPr>
          <p:cNvSpPr txBox="1"/>
          <p:nvPr/>
        </p:nvSpPr>
        <p:spPr>
          <a:xfrm>
            <a:off x="7743159" y="1141312"/>
            <a:ext cx="2814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zh-TW" dirty="0">
                <a:latin typeface="Bradley Hand" pitchFamily="2" charset="0"/>
              </a:rPr>
              <a:t>Grün ------2</a:t>
            </a:r>
          </a:p>
          <a:p>
            <a:r>
              <a:rPr kumimoji="1" lang="de-DE" altLang="zh-TW" dirty="0">
                <a:latin typeface="Bradley Hand" pitchFamily="2" charset="0"/>
              </a:rPr>
              <a:t>Gelb ------1</a:t>
            </a:r>
          </a:p>
          <a:p>
            <a:r>
              <a:rPr kumimoji="1" lang="de-DE" altLang="zh-TW" dirty="0">
                <a:latin typeface="Bradley Hand" pitchFamily="2" charset="0"/>
              </a:rPr>
              <a:t>Grau ------0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89E2E4E-0D22-8FCD-4D4F-292D0CB9AE0F}"/>
                  </a:ext>
                </a:extLst>
              </p:cNvPr>
              <p:cNvSpPr txBox="1"/>
              <p:nvPr/>
            </p:nvSpPr>
            <p:spPr>
              <a:xfrm>
                <a:off x="1284323" y="4956612"/>
                <a:ext cx="2503967" cy="1307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,(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𝟐𝟎𝟎𝟎𝟏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kumimoji="1" lang="en-US" altLang="zh-TW" sz="24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,(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𝟐𝟐𝟎𝟎𝟎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TW" altLang="en-US" sz="24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,(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𝟐𝟎𝟎𝟏𝟏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TW" altLang="en-US" sz="2400" dirty="0">
                  <a:latin typeface="Bradley Hand" pitchFamily="2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89E2E4E-0D22-8FCD-4D4F-292D0CB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4323" y="4956612"/>
                <a:ext cx="2503967" cy="1307089"/>
              </a:xfrm>
              <a:prstGeom prst="rect">
                <a:avLst/>
              </a:prstGeom>
              <a:blipFill>
                <a:blip r:embed="rId3"/>
                <a:stretch>
                  <a:fillRect l="-2525" b="-28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2888CC0-6FC9-C6CD-D6F7-C9FA2223939B}"/>
                  </a:ext>
                </a:extLst>
              </p:cNvPr>
              <p:cNvSpPr txBox="1"/>
              <p:nvPr/>
            </p:nvSpPr>
            <p:spPr>
              <a:xfrm>
                <a:off x="4819649" y="5095175"/>
                <a:ext cx="6503138" cy="7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𝑬𝒙𝒑𝑹𝒆𝒎</m:t>
                      </m:r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d>
                                    <m:dPr>
                                      <m:ctrlPr>
                                        <a:rPr kumimoji="1"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den>
                          </m:f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TW" altLang="en-US" b="1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2888CC0-6FC9-C6CD-D6F7-C9FA22239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649" y="5095175"/>
                <a:ext cx="6503138" cy="769313"/>
              </a:xfrm>
              <a:prstGeom prst="rect">
                <a:avLst/>
              </a:prstGeom>
              <a:blipFill>
                <a:blip r:embed="rId4"/>
                <a:stretch>
                  <a:fillRect t="-122951" b="-168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FE43411D-E64B-2C45-6AA4-1A0C657B8B40}"/>
              </a:ext>
            </a:extLst>
          </p:cNvPr>
          <p:cNvSpPr txBox="1"/>
          <p:nvPr/>
        </p:nvSpPr>
        <p:spPr>
          <a:xfrm>
            <a:off x="699091" y="2126631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b="1" dirty="0">
                <a:latin typeface="Bradley Hand" pitchFamily="2" charset="0"/>
              </a:rPr>
              <a:t>W = POWER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B87A497D-B019-82DF-170D-1D081EA96A9E}"/>
                  </a:ext>
                </a:extLst>
              </p:cNvPr>
              <p:cNvSpPr txBox="1"/>
              <p:nvPr/>
            </p:nvSpPr>
            <p:spPr>
              <a:xfrm>
                <a:off x="5466417" y="6065537"/>
                <a:ext cx="3135323" cy="4160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de-DE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𝑾𝒐𝒓𝒔𝒕𝑹𝒆𝒎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func>
                    </m:oMath>
                  </m:oMathPara>
                </a14:m>
                <a:endParaRPr kumimoji="1" lang="zh-TW" altLang="en-US" b="1" i="1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B87A497D-B019-82DF-170D-1D081EA96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417" y="6065537"/>
                <a:ext cx="3135323" cy="416076"/>
              </a:xfrm>
              <a:prstGeom prst="rect">
                <a:avLst/>
              </a:prstGeom>
              <a:blipFill>
                <a:blip r:embed="rId5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>
            <a:extLst>
              <a:ext uri="{FF2B5EF4-FFF2-40B4-BE49-F238E27FC236}">
                <a16:creationId xmlns:a16="http://schemas.microsoft.com/office/drawing/2014/main" id="{7E34F8F2-69C4-76AE-4713-21929800CA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1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2" grpId="0"/>
      <p:bldP spid="14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A11BBD3-B4EC-2FEA-361D-C0E6018D5A55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Restmenge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CF1C088-E26F-87E2-9422-D2518780F078}"/>
              </a:ext>
            </a:extLst>
          </p:cNvPr>
          <p:cNvSpPr txBox="1"/>
          <p:nvPr/>
        </p:nvSpPr>
        <p:spPr>
          <a:xfrm>
            <a:off x="935001" y="1138805"/>
            <a:ext cx="6371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>
                <a:latin typeface="Bradley Hand" pitchFamily="2" charset="0"/>
              </a:rPr>
              <a:t>Beispiel</a:t>
            </a:r>
            <a:r>
              <a:rPr kumimoji="1" lang="en-US" altLang="zh-TW" sz="2000" dirty="0">
                <a:latin typeface="Bradley Hand" pitchFamily="2" charset="0"/>
              </a:rPr>
              <a:t>:</a:t>
            </a:r>
          </a:p>
          <a:p>
            <a:r>
              <a:rPr kumimoji="1" lang="en-US" altLang="zh-TW" sz="2000" dirty="0">
                <a:latin typeface="Bradley Hand" pitchFamily="2" charset="0"/>
              </a:rPr>
              <a:t>PRINT, POINT, PRISM, POWER, PRAYS, PRIME</a:t>
            </a:r>
            <a:endParaRPr kumimoji="1" lang="zh-TW" altLang="en-US" sz="2000" dirty="0">
              <a:latin typeface="Bradley Hand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D3A4DCB-2271-BB6F-4EF6-FF2B24BAE18A}"/>
              </a:ext>
            </a:extLst>
          </p:cNvPr>
          <p:cNvSpPr txBox="1"/>
          <p:nvPr/>
        </p:nvSpPr>
        <p:spPr>
          <a:xfrm>
            <a:off x="699091" y="1872639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b="1" dirty="0">
                <a:latin typeface="Bradley Hand" pitchFamily="2" charset="0"/>
              </a:rPr>
              <a:t>W = PRISM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D86FDE-2CE3-B170-9C35-E7BDB1DBE06F}"/>
              </a:ext>
            </a:extLst>
          </p:cNvPr>
          <p:cNvSpPr txBox="1"/>
          <p:nvPr/>
        </p:nvSpPr>
        <p:spPr>
          <a:xfrm>
            <a:off x="1244010" y="2477668"/>
            <a:ext cx="33191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P(PRINT)=(22200)</a:t>
            </a:r>
          </a:p>
          <a:p>
            <a:r>
              <a:rPr kumimoji="1" lang="en-US" altLang="zh-TW" sz="2400" dirty="0">
                <a:latin typeface="Bradley Hand" pitchFamily="2" charset="0"/>
              </a:rPr>
              <a:t>P(POINT)=(20200)</a:t>
            </a:r>
          </a:p>
          <a:p>
            <a:r>
              <a:rPr kumimoji="1" lang="en-US" altLang="zh-TW" sz="2400" dirty="0">
                <a:latin typeface="Bradley Hand" pitchFamily="2" charset="0"/>
              </a:rPr>
              <a:t>P(POWER)=(21000)</a:t>
            </a:r>
          </a:p>
          <a:p>
            <a:r>
              <a:rPr kumimoji="1" lang="en-US" altLang="zh-TW" sz="2400" dirty="0">
                <a:latin typeface="Bradley Hand" pitchFamily="2" charset="0"/>
              </a:rPr>
              <a:t>P(PRAYS)=(22000)</a:t>
            </a:r>
          </a:p>
          <a:p>
            <a:r>
              <a:rPr kumimoji="1" lang="en-US" altLang="zh-TW" sz="2400" dirty="0">
                <a:latin typeface="Bradley Hand" pitchFamily="2" charset="0"/>
              </a:rPr>
              <a:t>P(PRIME)=(22201)</a:t>
            </a:r>
            <a:endParaRPr kumimoji="1" lang="zh-TW" altLang="en-US" sz="2400" dirty="0">
              <a:latin typeface="Bradley Hand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321FB1C-E37F-794A-8470-921913E05A6F}"/>
                  </a:ext>
                </a:extLst>
              </p:cNvPr>
              <p:cNvSpPr txBox="1"/>
              <p:nvPr/>
            </p:nvSpPr>
            <p:spPr>
              <a:xfrm>
                <a:off x="1263249" y="4477203"/>
                <a:ext cx="2660892" cy="2116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,(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𝟐𝟐𝟐𝟎𝟎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en-US" altLang="zh-TW" sz="24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,(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𝟐𝟎𝟐𝟎𝟎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TW" altLang="en-US" sz="24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,(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𝟐𝟏𝟎𝟎𝟎</m:t>
                          </m:r>
                          <m:r>
                            <a:rPr kumimoji="1" lang="en-US" altLang="zh-TW" sz="24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en-US" altLang="zh-TW" sz="24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,(</m:t>
                          </m:r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𝟐𝟐𝟎𝟎𝟎</m:t>
                          </m:r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TW" sz="2400" b="1" i="1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4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en-US" altLang="zh-TW" sz="24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,(</m:t>
                          </m:r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𝟐𝟐𝟐𝟎𝟏</m:t>
                          </m:r>
                          <m:r>
                            <a:rPr kumimoji="1" lang="en-US" altLang="zh-TW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TW" sz="2400" b="1" i="1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4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TW" altLang="en-US" sz="2400" dirty="0">
                  <a:latin typeface="Bradley Hand" pitchFamily="2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321FB1C-E37F-794A-8470-921913E05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249" y="4477203"/>
                <a:ext cx="2660892" cy="2116926"/>
              </a:xfrm>
              <a:prstGeom prst="rect">
                <a:avLst/>
              </a:prstGeom>
              <a:blipFill>
                <a:blip r:embed="rId2"/>
                <a:stretch>
                  <a:fillRect l="-1896" b="-17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1FF50D8-6950-C6BE-2998-C81454A4EC15}"/>
                  </a:ext>
                </a:extLst>
              </p:cNvPr>
              <p:cNvSpPr txBox="1"/>
              <p:nvPr/>
            </p:nvSpPr>
            <p:spPr>
              <a:xfrm>
                <a:off x="5689524" y="2177357"/>
                <a:ext cx="4763387" cy="271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  <m:t>𝑷𝑹𝑰𝑵𝑻</m:t>
                              </m:r>
                            </m:e>
                          </m:d>
                        </m:sub>
                      </m:sSub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en-US" altLang="zh-TW" sz="28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  <m:t>𝑷𝑶𝑰𝑵𝑻</m:t>
                              </m:r>
                            </m:e>
                          </m:d>
                        </m:sub>
                      </m:sSub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TW" altLang="en-US" sz="28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  <m:t>𝑷𝑶𝑾𝑬𝑹</m:t>
                              </m:r>
                            </m:e>
                          </m:d>
                        </m:sub>
                      </m:sSub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TW" altLang="en-US" sz="28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  <m:t>𝑷𝑹𝑨𝒀𝑺</m:t>
                              </m:r>
                            </m:e>
                          </m:d>
                        </m:sub>
                      </m:sSub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TW" altLang="en-US" sz="2800" dirty="0">
                  <a:latin typeface="Bradley Hand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en-US" altLang="zh-TW" sz="28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d>
                            <m:dPr>
                              <m:ctrlP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TW" sz="2800" b="1" i="1" smtClean="0">
                                  <a:latin typeface="Cambria Math" panose="02040503050406030204" pitchFamily="18" charset="0"/>
                                </a:rPr>
                                <m:t>𝑷𝑹𝑰𝑴𝑬</m:t>
                              </m:r>
                            </m:e>
                          </m:d>
                        </m:sub>
                      </m:sSub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kumimoji="1" lang="en-US" altLang="zh-TW" sz="28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TW" altLang="en-US" sz="2800" dirty="0">
                  <a:latin typeface="Bradley Hand" pitchFamily="2" charset="0"/>
                </a:endParaRPr>
              </a:p>
              <a:p>
                <a:endParaRPr kumimoji="1" lang="zh-TW" altLang="en-US" dirty="0">
                  <a:latin typeface="Bradley Hand" pitchFamily="2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21FF50D8-6950-C6BE-2998-C81454A4E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524" y="2177357"/>
                <a:ext cx="4763387" cy="2716769"/>
              </a:xfrm>
              <a:prstGeom prst="rect">
                <a:avLst/>
              </a:prstGeom>
              <a:blipFill>
                <a:blip r:embed="rId3"/>
                <a:stretch>
                  <a:fillRect l="-1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6AC2373-A8FA-CE60-3108-3EF9BB30798A}"/>
                  </a:ext>
                </a:extLst>
              </p:cNvPr>
              <p:cNvSpPr txBox="1"/>
              <p:nvPr/>
            </p:nvSpPr>
            <p:spPr>
              <a:xfrm>
                <a:off x="4819648" y="4840135"/>
                <a:ext cx="6503138" cy="7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𝑬𝒙𝒑𝑹𝒆𝒎</m:t>
                      </m:r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  <m:d>
                                    <m:dPr>
                                      <m:ctrlPr>
                                        <a:rPr kumimoji="1" lang="en-US" altLang="zh-TW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TW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den>
                          </m:f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TW" altLang="en-US" b="1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6AC2373-A8FA-CE60-3108-3EF9BB307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9648" y="4840135"/>
                <a:ext cx="6503138" cy="769313"/>
              </a:xfrm>
              <a:prstGeom prst="rect">
                <a:avLst/>
              </a:prstGeom>
              <a:blipFill>
                <a:blip r:embed="rId4"/>
                <a:stretch>
                  <a:fillRect t="-122951" b="-168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8C9EE08-1C65-2CC5-5CCF-858426C2587B}"/>
                  </a:ext>
                </a:extLst>
              </p:cNvPr>
              <p:cNvSpPr txBox="1"/>
              <p:nvPr/>
            </p:nvSpPr>
            <p:spPr>
              <a:xfrm>
                <a:off x="5455784" y="5760604"/>
                <a:ext cx="3135324" cy="4160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de-DE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𝑾𝒐𝒓𝒔𝒕𝑹𝒆𝒎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func>
                    </m:oMath>
                  </m:oMathPara>
                </a14:m>
                <a:endParaRPr kumimoji="1" lang="zh-TW" altLang="en-US" b="1" i="1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8C9EE08-1C65-2CC5-5CCF-858426C25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784" y="5760604"/>
                <a:ext cx="3135324" cy="416076"/>
              </a:xfrm>
              <a:prstGeom prst="rect">
                <a:avLst/>
              </a:prstGeom>
              <a:blipFill>
                <a:blip r:embed="rId5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568C02D4-EB66-099E-CDFA-7058EF784212}"/>
              </a:ext>
            </a:extLst>
          </p:cNvPr>
          <p:cNvSpPr txBox="1"/>
          <p:nvPr/>
        </p:nvSpPr>
        <p:spPr>
          <a:xfrm>
            <a:off x="7743159" y="1141312"/>
            <a:ext cx="2814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de-DE" altLang="zh-TW" dirty="0">
                <a:latin typeface="Bradley Hand" pitchFamily="2" charset="0"/>
              </a:rPr>
              <a:t>Grün ------2</a:t>
            </a:r>
          </a:p>
          <a:p>
            <a:r>
              <a:rPr kumimoji="1" lang="de-DE" altLang="zh-TW" dirty="0">
                <a:latin typeface="Bradley Hand" pitchFamily="2" charset="0"/>
              </a:rPr>
              <a:t>Gelb ------1</a:t>
            </a:r>
          </a:p>
          <a:p>
            <a:r>
              <a:rPr kumimoji="1" lang="de-DE" altLang="zh-TW" dirty="0">
                <a:latin typeface="Bradley Hand" pitchFamily="2" charset="0"/>
              </a:rPr>
              <a:t>Grau ------0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AE156A2-E634-AA6F-12AC-1B35E7C8E5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825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2" dur="125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3" dur="125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E91A82D-28D1-E2D8-BB77-203013ECDC60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Restmenge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59AAEA4-6320-67EC-DA8D-6CDF37C35195}"/>
              </a:ext>
            </a:extLst>
          </p:cNvPr>
          <p:cNvSpPr txBox="1"/>
          <p:nvPr/>
        </p:nvSpPr>
        <p:spPr>
          <a:xfrm>
            <a:off x="699090" y="1940595"/>
            <a:ext cx="6988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In </a:t>
            </a:r>
            <a:r>
              <a:rPr kumimoji="1" lang="en-US" altLang="zh-TW" sz="2400" dirty="0" err="1">
                <a:latin typeface="Bradley Hand" pitchFamily="2" charset="0"/>
              </a:rPr>
              <a:t>diesen</a:t>
            </a:r>
            <a:r>
              <a:rPr kumimoji="1" lang="en-US" altLang="zh-TW" sz="2400" dirty="0">
                <a:latin typeface="Bradley Hand" pitchFamily="2" charset="0"/>
              </a:rPr>
              <a:t> Fall </a:t>
            </a:r>
            <a:r>
              <a:rPr kumimoji="1" lang="en-US" altLang="zh-TW" sz="2400" dirty="0" err="1">
                <a:latin typeface="Bradley Hand" pitchFamily="2" charset="0"/>
              </a:rPr>
              <a:t>ist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b="1" dirty="0">
                <a:latin typeface="Bradley Hand" pitchFamily="2" charset="0"/>
              </a:rPr>
              <a:t>PRISM </a:t>
            </a:r>
            <a:r>
              <a:rPr kumimoji="1" lang="en-US" altLang="zh-TW" sz="2400" dirty="0" err="1">
                <a:latin typeface="Bradley Hand" pitchFamily="2" charset="0"/>
              </a:rPr>
              <a:t>ein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bessere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Anfangswort</a:t>
            </a:r>
            <a:r>
              <a:rPr kumimoji="1" lang="en-US" altLang="zh-TW" sz="2400" dirty="0">
                <a:latin typeface="Bradley Hand" pitchFamily="2" charset="0"/>
              </a:rPr>
              <a:t>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38E1A6-DCCF-68E1-E6A1-FD538DF3817C}"/>
              </a:ext>
            </a:extLst>
          </p:cNvPr>
          <p:cNvSpPr txBox="1"/>
          <p:nvPr/>
        </p:nvSpPr>
        <p:spPr>
          <a:xfrm>
            <a:off x="699090" y="3663210"/>
            <a:ext cx="10560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dirty="0">
                <a:latin typeface="Bradley Hand" pitchFamily="2" charset="0"/>
              </a:rPr>
              <a:t>Als nächsten Schritt haben wir zur Überprüfung mit Python auch die folgenden zwölf Wörter getestet: </a:t>
            </a:r>
            <a:endParaRPr lang="zh-TW" altLang="en-US" dirty="0">
              <a:latin typeface="Bradley Hand" pitchFamily="2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EE757E9-9C79-8559-BB51-4A09EA600F2F}"/>
              </a:ext>
            </a:extLst>
          </p:cNvPr>
          <p:cNvSpPr txBox="1"/>
          <p:nvPr/>
        </p:nvSpPr>
        <p:spPr>
          <a:xfrm>
            <a:off x="7804298" y="1940595"/>
            <a:ext cx="659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200" dirty="0"/>
              <a:t>😊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CA20EF0-55F7-948C-7C8F-FC12EA2B7F57}"/>
              </a:ext>
            </a:extLst>
          </p:cNvPr>
          <p:cNvSpPr txBox="1"/>
          <p:nvPr/>
        </p:nvSpPr>
        <p:spPr>
          <a:xfrm>
            <a:off x="2284671" y="4689949"/>
            <a:ext cx="80621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Bradley Hand" pitchFamily="2" charset="0"/>
              </a:rPr>
              <a:t>PRINT</a:t>
            </a:r>
            <a:r>
              <a:rPr lang="en-US" altLang="zh-TW" sz="2400" dirty="0">
                <a:latin typeface="Bradley Hand" pitchFamily="2" charset="0"/>
              </a:rPr>
              <a:t>, </a:t>
            </a:r>
            <a:r>
              <a:rPr lang="zh-TW" altLang="en-US" sz="2400" dirty="0">
                <a:latin typeface="Bradley Hand" pitchFamily="2" charset="0"/>
              </a:rPr>
              <a:t>PRIME,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PRISM,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POINT,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PRAYS,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POWER,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WATER,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WASTE,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SNACK,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SLEEP,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SLICE,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SNAKE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611DFB6A-F244-8F96-342C-124D35DAD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29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6431A75-EFCE-59F0-62B5-CF308C07B6C3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Restmenge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BFE8A07-6DA6-1836-DCA2-5C425D14B0B6}"/>
              </a:ext>
            </a:extLst>
          </p:cNvPr>
          <p:cNvSpPr txBox="1"/>
          <p:nvPr/>
        </p:nvSpPr>
        <p:spPr>
          <a:xfrm>
            <a:off x="3674145" y="648869"/>
            <a:ext cx="408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Python --- </a:t>
            </a:r>
            <a:r>
              <a:rPr kumimoji="1" lang="de-DE" altLang="zh-TW" sz="2400" dirty="0">
                <a:latin typeface="Bradley Hand" pitchFamily="2" charset="0"/>
              </a:rPr>
              <a:t>P</a:t>
            </a:r>
            <a:r>
              <a:rPr lang="de-DE" altLang="zh-TW" sz="2400" dirty="0">
                <a:latin typeface="Bradley Hand" pitchFamily="2" charset="0"/>
              </a:rPr>
              <a:t>seudocode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198D9E7-B98C-2400-C934-ADE5880DD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084" y="1172089"/>
            <a:ext cx="7582480" cy="364223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FC14736-5F53-9EEA-DF56-92CACFE59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776" y="4608043"/>
            <a:ext cx="7486787" cy="2183646"/>
          </a:xfrm>
          <a:prstGeom prst="rect">
            <a:avLst/>
          </a:prstGeom>
        </p:spPr>
      </p:pic>
      <p:sp>
        <p:nvSpPr>
          <p:cNvPr id="8" name="框架 7">
            <a:extLst>
              <a:ext uri="{FF2B5EF4-FFF2-40B4-BE49-F238E27FC236}">
                <a16:creationId xmlns:a16="http://schemas.microsoft.com/office/drawing/2014/main" id="{73D48A9B-FA20-FA1F-D58E-9E461F714308}"/>
              </a:ext>
            </a:extLst>
          </p:cNvPr>
          <p:cNvSpPr/>
          <p:nvPr/>
        </p:nvSpPr>
        <p:spPr>
          <a:xfrm>
            <a:off x="5007935" y="1360967"/>
            <a:ext cx="829339" cy="297712"/>
          </a:xfrm>
          <a:prstGeom prst="fram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8E353FB-3CD2-00DE-8E63-78303B49AF22}"/>
                  </a:ext>
                </a:extLst>
              </p:cNvPr>
              <p:cNvSpPr txBox="1"/>
              <p:nvPr/>
            </p:nvSpPr>
            <p:spPr>
              <a:xfrm>
                <a:off x="8499202" y="3838730"/>
                <a:ext cx="3090043" cy="769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𝑬𝒙𝒑𝑹𝒆𝒎</m:t>
                      </m:r>
                      <m:r>
                        <a:rPr kumimoji="1"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TW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kumimoji="1" lang="zh-TW" altLang="en-US" b="1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8E353FB-3CD2-00DE-8E63-78303B49A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202" y="3838730"/>
                <a:ext cx="3090043" cy="769313"/>
              </a:xfrm>
              <a:prstGeom prst="rect">
                <a:avLst/>
              </a:prstGeom>
              <a:blipFill>
                <a:blip r:embed="rId4"/>
                <a:stretch>
                  <a:fillRect t="-122951" b="-1704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3">
            <a:extLst>
              <a:ext uri="{FF2B5EF4-FFF2-40B4-BE49-F238E27FC236}">
                <a16:creationId xmlns:a16="http://schemas.microsoft.com/office/drawing/2014/main" id="{11928CA4-3947-A0A3-88D2-75A2081B94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58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39E2653-4023-9F09-9F68-FEAAF169D1C0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Restmenge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CB59F03-DB0F-7774-8F47-D1D1A1DB41B3}"/>
              </a:ext>
            </a:extLst>
          </p:cNvPr>
          <p:cNvSpPr txBox="1"/>
          <p:nvPr/>
        </p:nvSpPr>
        <p:spPr>
          <a:xfrm>
            <a:off x="3674145" y="648869"/>
            <a:ext cx="408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Python --- </a:t>
            </a:r>
            <a:r>
              <a:rPr kumimoji="1" lang="de-DE" altLang="zh-TW" sz="2400" dirty="0">
                <a:latin typeface="Bradley Hand" pitchFamily="2" charset="0"/>
              </a:rPr>
              <a:t>P</a:t>
            </a:r>
            <a:r>
              <a:rPr lang="de-DE" altLang="zh-TW" sz="2400" dirty="0">
                <a:latin typeface="Bradley Hand" pitchFamily="2" charset="0"/>
              </a:rPr>
              <a:t>seudocode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66C6C1-8900-2FEC-288B-9695BDF85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98744"/>
            <a:ext cx="7772400" cy="4741164"/>
          </a:xfrm>
          <a:prstGeom prst="rect">
            <a:avLst/>
          </a:prstGeom>
        </p:spPr>
      </p:pic>
      <p:sp>
        <p:nvSpPr>
          <p:cNvPr id="6" name="框架 5">
            <a:extLst>
              <a:ext uri="{FF2B5EF4-FFF2-40B4-BE49-F238E27FC236}">
                <a16:creationId xmlns:a16="http://schemas.microsoft.com/office/drawing/2014/main" id="{112E756B-DCFC-DFE6-14A7-C1036BA79392}"/>
              </a:ext>
            </a:extLst>
          </p:cNvPr>
          <p:cNvSpPr/>
          <p:nvPr/>
        </p:nvSpPr>
        <p:spPr>
          <a:xfrm>
            <a:off x="5085907" y="1733107"/>
            <a:ext cx="1091609" cy="297712"/>
          </a:xfrm>
          <a:prstGeom prst="fram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A5CE3F8-E862-FDEA-459C-4F45043B1ED1}"/>
                  </a:ext>
                </a:extLst>
              </p:cNvPr>
              <p:cNvSpPr txBox="1"/>
              <p:nvPr/>
            </p:nvSpPr>
            <p:spPr>
              <a:xfrm>
                <a:off x="8651754" y="4136771"/>
                <a:ext cx="2660892" cy="3963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de-DE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𝑾𝒐𝒓𝒔𝒕𝑹𝒆𝒎</m:t>
                          </m:r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kumimoji="1" lang="de-DE" altLang="zh-TW" b="1" i="1" smtClean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zh-TW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  <m:r>
                            <a:rPr kumimoji="1" lang="en-US" altLang="zh-TW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func>
                    </m:oMath>
                  </m:oMathPara>
                </a14:m>
                <a:endParaRPr kumimoji="1" lang="zh-TW" altLang="en-US" b="1" i="1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A5CE3F8-E862-FDEA-459C-4F45043B1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754" y="4136771"/>
                <a:ext cx="2660892" cy="396327"/>
              </a:xfrm>
              <a:prstGeom prst="rect">
                <a:avLst/>
              </a:prstGeom>
              <a:blipFill>
                <a:blip r:embed="rId3"/>
                <a:stretch>
                  <a:fillRect l="-1429" r="-2381" b="-121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3">
            <a:extLst>
              <a:ext uri="{FF2B5EF4-FFF2-40B4-BE49-F238E27FC236}">
                <a16:creationId xmlns:a16="http://schemas.microsoft.com/office/drawing/2014/main" id="{8BB9C973-CCC1-2A5B-26C6-6B49E3C59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326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F7AC6621-03B2-11FD-4070-3930CF840279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Restmenge</a:t>
            </a:r>
            <a:endParaRPr lang="zh-TW" altLang="en-US" sz="2800" dirty="0">
              <a:latin typeface="Bradley Hand" pitchFamily="2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D80DEC6-4A02-D2C9-A705-F29993133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763" y="2341641"/>
            <a:ext cx="3792402" cy="362322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9CA2773-CD09-5A9D-98A1-9611719244A7}"/>
              </a:ext>
            </a:extLst>
          </p:cNvPr>
          <p:cNvSpPr txBox="1"/>
          <p:nvPr/>
        </p:nvSpPr>
        <p:spPr>
          <a:xfrm>
            <a:off x="2284671" y="1141312"/>
            <a:ext cx="80621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 err="1">
                <a:latin typeface="Bradley Hand" pitchFamily="2" charset="0"/>
              </a:rPr>
              <a:t>Beispiel</a:t>
            </a:r>
            <a:r>
              <a:rPr lang="en-US" altLang="zh-TW" sz="2400" dirty="0">
                <a:latin typeface="Bradley Hand" pitchFamily="2" charset="0"/>
              </a:rPr>
              <a:t>:</a:t>
            </a:r>
          </a:p>
          <a:p>
            <a:r>
              <a:rPr lang="zh-TW" altLang="en-US" sz="2400" dirty="0">
                <a:latin typeface="Bradley Hand" pitchFamily="2" charset="0"/>
              </a:rPr>
              <a:t>PRINT</a:t>
            </a:r>
            <a:r>
              <a:rPr lang="en-US" altLang="zh-TW" sz="2400" dirty="0">
                <a:latin typeface="Bradley Hand" pitchFamily="2" charset="0"/>
              </a:rPr>
              <a:t>, </a:t>
            </a:r>
            <a:r>
              <a:rPr lang="zh-TW" altLang="en-US" sz="2400" dirty="0">
                <a:latin typeface="Bradley Hand" pitchFamily="2" charset="0"/>
              </a:rPr>
              <a:t>PRIME,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PRISM,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POINT,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PRAYS,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POWER,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WATER,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WASTE,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SNACK,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SLEEP,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SLICE,</a:t>
            </a:r>
            <a:r>
              <a:rPr lang="en-US" altLang="zh-TW" sz="2400" dirty="0">
                <a:latin typeface="Bradley Hand" pitchFamily="2" charset="0"/>
              </a:rPr>
              <a:t> </a:t>
            </a:r>
            <a:r>
              <a:rPr lang="zh-TW" altLang="en-US" sz="2400" dirty="0">
                <a:latin typeface="Bradley Hand" pitchFamily="2" charset="0"/>
              </a:rPr>
              <a:t>SNAKE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4850D86-A6C2-F65B-9243-0C71C4305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648" y="2341640"/>
            <a:ext cx="3769323" cy="362322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E9C47B0-69EC-5646-9D36-B35B616709F8}"/>
              </a:ext>
            </a:extLst>
          </p:cNvPr>
          <p:cNvSpPr txBox="1"/>
          <p:nvPr/>
        </p:nvSpPr>
        <p:spPr>
          <a:xfrm>
            <a:off x="1701209" y="6081823"/>
            <a:ext cx="3189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>
                <a:latin typeface="Bradley Hand" pitchFamily="2" charset="0"/>
              </a:rPr>
              <a:t>Korrelation</a:t>
            </a:r>
            <a:r>
              <a:rPr kumimoji="1" lang="en-US" altLang="zh-TW" dirty="0">
                <a:latin typeface="Bradley Hand" pitchFamily="2" charset="0"/>
              </a:rPr>
              <a:t>: 0.94</a:t>
            </a:r>
            <a:endParaRPr kumimoji="1" lang="zh-TW" altLang="en-US" dirty="0">
              <a:latin typeface="Bradley Hand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CCA4FB7-138D-77E1-46DB-DCDD1E7A7D15}"/>
              </a:ext>
            </a:extLst>
          </p:cNvPr>
          <p:cNvSpPr txBox="1"/>
          <p:nvPr/>
        </p:nvSpPr>
        <p:spPr>
          <a:xfrm>
            <a:off x="6940425" y="6081823"/>
            <a:ext cx="3189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 err="1">
                <a:latin typeface="Bradley Hand" pitchFamily="2" charset="0"/>
              </a:rPr>
              <a:t>Korrelation</a:t>
            </a:r>
            <a:r>
              <a:rPr kumimoji="1" lang="en-US" altLang="zh-TW" dirty="0">
                <a:latin typeface="Bradley Hand" pitchFamily="2" charset="0"/>
              </a:rPr>
              <a:t>: 0.67</a:t>
            </a:r>
            <a:endParaRPr kumimoji="1" lang="zh-TW" altLang="en-US" dirty="0">
              <a:latin typeface="Bradley Hand" pitchFamily="2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AA54FEC-FFAC-681C-F1AB-7C938A03D48C}"/>
              </a:ext>
            </a:extLst>
          </p:cNvPr>
          <p:cNvSpPr txBox="1"/>
          <p:nvPr/>
        </p:nvSpPr>
        <p:spPr>
          <a:xfrm>
            <a:off x="3870251" y="6081823"/>
            <a:ext cx="40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😁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26489B5-9264-46D4-5D94-A64AAF509D60}"/>
              </a:ext>
            </a:extLst>
          </p:cNvPr>
          <p:cNvSpPr txBox="1"/>
          <p:nvPr/>
        </p:nvSpPr>
        <p:spPr>
          <a:xfrm>
            <a:off x="9328292" y="6081823"/>
            <a:ext cx="40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🙂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28EDBAB-9C0B-A619-5514-E361CD53A80A}"/>
              </a:ext>
            </a:extLst>
          </p:cNvPr>
          <p:cNvSpPr txBox="1"/>
          <p:nvPr/>
        </p:nvSpPr>
        <p:spPr>
          <a:xfrm>
            <a:off x="4274288" y="648869"/>
            <a:ext cx="408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Python --- </a:t>
            </a:r>
            <a:r>
              <a:rPr kumimoji="1" lang="de-DE" altLang="zh-TW" sz="2400" dirty="0">
                <a:latin typeface="Bradley Hand" pitchFamily="2" charset="0"/>
              </a:rPr>
              <a:t>Ergebnis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767FBC79-BEC6-8EFC-61DF-61760E871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DA424BF-E8E0-9AA5-F69C-EAFD84FE2781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Restmenge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D864F77-5298-C15D-36FA-D6360B402497}"/>
              </a:ext>
            </a:extLst>
          </p:cNvPr>
          <p:cNvSpPr txBox="1"/>
          <p:nvPr/>
        </p:nvSpPr>
        <p:spPr>
          <a:xfrm>
            <a:off x="1169581" y="1828800"/>
            <a:ext cx="106963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 err="1">
                <a:latin typeface="Bradley Hand" pitchFamily="2" charset="0"/>
              </a:rPr>
              <a:t>Mit</a:t>
            </a:r>
            <a:r>
              <a:rPr kumimoji="1" lang="en-US" altLang="zh-TW" sz="2400" dirty="0">
                <a:latin typeface="Bradley Hand" pitchFamily="2" charset="0"/>
              </a:rPr>
              <a:t> 50 </a:t>
            </a:r>
            <a:r>
              <a:rPr kumimoji="1" lang="en-US" altLang="zh-TW" sz="2400" dirty="0" err="1">
                <a:latin typeface="Bradley Hand" pitchFamily="2" charset="0"/>
              </a:rPr>
              <a:t>Wörter</a:t>
            </a:r>
            <a:r>
              <a:rPr kumimoji="1" lang="en-US" altLang="zh-TW" sz="2400" dirty="0">
                <a:latin typeface="Bradley Hand" pitchFamily="2" charset="0"/>
              </a:rPr>
              <a:t>:</a:t>
            </a:r>
          </a:p>
          <a:p>
            <a:r>
              <a:rPr kumimoji="1" lang="de-DE" altLang="zh-TW" sz="2400" dirty="0">
                <a:latin typeface="Bradley Hand" pitchFamily="2" charset="0"/>
              </a:rPr>
              <a:t>PRINT,  PRIME, PRISM, POINT, PRAYS, POWER, WATER, WASTE, SNACK, SLEEP, SLICE, SNAKE, CRANE, SLATE, TRACE, CRISP, GRACE, PLANT, GRANT, PRIDE, TRICE, IDEAL, APPLE, BERRY, CHASE, DELTA, EARTH, FAITH, GIANT, HAPPY, INDEX, JUDGE, KNIFE, LEMON, MAGIC, NOVEL, OCEAN, PEACH, QUIET, RIVER, SOLAR, TIGER, UNITY, VIVID, WHALE, XENON, YEAST, ZEBRA, CABIN, DANCE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7B3AFB8-474C-E402-A4D2-2F464E729CF5}"/>
              </a:ext>
            </a:extLst>
          </p:cNvPr>
          <p:cNvSpPr txBox="1"/>
          <p:nvPr/>
        </p:nvSpPr>
        <p:spPr>
          <a:xfrm>
            <a:off x="2155751" y="5193944"/>
            <a:ext cx="6097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dirty="0" err="1">
                <a:latin typeface="Bradley Hand" pitchFamily="2" charset="0"/>
              </a:rPr>
              <a:t>ExpRem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Korrelation</a:t>
            </a:r>
            <a:r>
              <a:rPr kumimoji="1" lang="en-US" altLang="zh-TW" sz="2400" dirty="0">
                <a:latin typeface="Bradley Hand" pitchFamily="2" charset="0"/>
              </a:rPr>
              <a:t>: 0.89</a:t>
            </a:r>
          </a:p>
          <a:p>
            <a:r>
              <a:rPr kumimoji="1" lang="en-US" altLang="zh-TW" sz="2400" dirty="0" err="1">
                <a:latin typeface="Bradley Hand" pitchFamily="2" charset="0"/>
              </a:rPr>
              <a:t>WorstRem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Korrelation</a:t>
            </a:r>
            <a:r>
              <a:rPr kumimoji="1" lang="en-US" altLang="zh-TW" sz="2400" dirty="0">
                <a:latin typeface="Bradley Hand" pitchFamily="2" charset="0"/>
              </a:rPr>
              <a:t>: 0.88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0CACF5B-49E2-70E2-354D-DC3D04853D2A}"/>
              </a:ext>
            </a:extLst>
          </p:cNvPr>
          <p:cNvSpPr txBox="1"/>
          <p:nvPr/>
        </p:nvSpPr>
        <p:spPr>
          <a:xfrm>
            <a:off x="4236494" y="679647"/>
            <a:ext cx="408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Python --- </a:t>
            </a:r>
            <a:r>
              <a:rPr kumimoji="1" lang="de-DE" altLang="zh-TW" sz="2400" dirty="0">
                <a:latin typeface="Bradley Hand" pitchFamily="2" charset="0"/>
              </a:rPr>
              <a:t>Ergebnis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A2C985AB-10AC-BB34-AC0A-A7159979C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93F666BC-089D-FC6C-3671-A847EAA83256}"/>
              </a:ext>
            </a:extLst>
          </p:cNvPr>
          <p:cNvSpPr txBox="1"/>
          <p:nvPr/>
        </p:nvSpPr>
        <p:spPr>
          <a:xfrm>
            <a:off x="6475228" y="5337544"/>
            <a:ext cx="882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600" dirty="0"/>
              <a:t>😁</a:t>
            </a:r>
            <a:endParaRPr kumimoji="1"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5199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B152495-B393-3A67-DB0C-5FFCAB5BB09A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Restmenge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413D541-76BD-AD42-A375-B9BABC1FD771}"/>
              </a:ext>
            </a:extLst>
          </p:cNvPr>
          <p:cNvSpPr txBox="1"/>
          <p:nvPr/>
        </p:nvSpPr>
        <p:spPr>
          <a:xfrm>
            <a:off x="1169581" y="1637414"/>
            <a:ext cx="4455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 err="1">
                <a:latin typeface="Bradley Hand" pitchFamily="2" charset="0"/>
              </a:rPr>
              <a:t>Mit</a:t>
            </a:r>
            <a:r>
              <a:rPr kumimoji="1" lang="en-US" altLang="zh-TW" sz="2400" dirty="0">
                <a:latin typeface="Bradley Hand" pitchFamily="2" charset="0"/>
              </a:rPr>
              <a:t> 1000 </a:t>
            </a:r>
            <a:r>
              <a:rPr kumimoji="1" lang="en-US" altLang="zh-TW" sz="2400" dirty="0" err="1">
                <a:latin typeface="Bradley Hand" pitchFamily="2" charset="0"/>
              </a:rPr>
              <a:t>Wörter</a:t>
            </a:r>
            <a:r>
              <a:rPr kumimoji="1" lang="en-US" altLang="zh-TW" sz="2400" dirty="0">
                <a:latin typeface="Bradley Hand" pitchFamily="2" charset="0"/>
              </a:rPr>
              <a:t>:</a:t>
            </a:r>
          </a:p>
          <a:p>
            <a:r>
              <a:rPr kumimoji="1" lang="en-US" altLang="zh-TW" sz="2400" dirty="0" err="1">
                <a:latin typeface="Bradley Hand" pitchFamily="2" charset="0"/>
              </a:rPr>
              <a:t>ExpRem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Korrelation</a:t>
            </a:r>
            <a:r>
              <a:rPr kumimoji="1" lang="en-US" altLang="zh-TW" sz="2400" dirty="0">
                <a:latin typeface="Bradley Hand" pitchFamily="2" charset="0"/>
              </a:rPr>
              <a:t>: 0.86</a:t>
            </a:r>
          </a:p>
          <a:p>
            <a:r>
              <a:rPr kumimoji="1" lang="en-US" altLang="zh-TW" sz="2400" dirty="0" err="1">
                <a:latin typeface="Bradley Hand" pitchFamily="2" charset="0"/>
              </a:rPr>
              <a:t>WorstRem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Korrelation</a:t>
            </a:r>
            <a:r>
              <a:rPr kumimoji="1" lang="en-US" altLang="zh-TW" sz="2400" dirty="0">
                <a:latin typeface="Bradley Hand" pitchFamily="2" charset="0"/>
              </a:rPr>
              <a:t>: 0.82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7901823-A36D-FF64-3F4A-7FA5B0C11773}"/>
              </a:ext>
            </a:extLst>
          </p:cNvPr>
          <p:cNvSpPr txBox="1"/>
          <p:nvPr/>
        </p:nvSpPr>
        <p:spPr>
          <a:xfrm>
            <a:off x="4240038" y="648869"/>
            <a:ext cx="408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Bradley Hand" pitchFamily="2" charset="0"/>
              </a:rPr>
              <a:t>Python --- </a:t>
            </a:r>
            <a:r>
              <a:rPr kumimoji="1" lang="de-DE" altLang="zh-TW" sz="2400" dirty="0">
                <a:latin typeface="Bradley Hand" pitchFamily="2" charset="0"/>
              </a:rPr>
              <a:t>Ergebnis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837022C5-A1FF-3916-DEDF-962CF3A3F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6E546774-FDBD-FB65-7EFA-FFACB1F8D927}"/>
              </a:ext>
            </a:extLst>
          </p:cNvPr>
          <p:cNvSpPr txBox="1"/>
          <p:nvPr/>
        </p:nvSpPr>
        <p:spPr>
          <a:xfrm>
            <a:off x="5555252" y="2006746"/>
            <a:ext cx="6097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b="1" dirty="0">
                <a:latin typeface="Bradley Hand" pitchFamily="2" charset="0"/>
              </a:rPr>
              <a:t>AREAS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ist</a:t>
            </a:r>
            <a:r>
              <a:rPr kumimoji="1" lang="en-US" altLang="zh-TW" sz="2400" dirty="0">
                <a:latin typeface="Bradley Hand" pitchFamily="2" charset="0"/>
              </a:rPr>
              <a:t> das </a:t>
            </a:r>
            <a:r>
              <a:rPr kumimoji="1" lang="en-US" altLang="zh-TW" sz="2400" dirty="0" err="1">
                <a:latin typeface="Bradley Hand" pitchFamily="2" charset="0"/>
              </a:rPr>
              <a:t>Beste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Anfangswort</a:t>
            </a:r>
            <a:endParaRPr kumimoji="1" lang="en-US" altLang="zh-TW" sz="2400" dirty="0">
              <a:latin typeface="Bradley Hand" pitchFamily="2" charset="0"/>
            </a:endParaRPr>
          </a:p>
          <a:p>
            <a:r>
              <a:rPr kumimoji="1" lang="en-US" altLang="zh-TW" sz="2400" b="1" dirty="0">
                <a:latin typeface="Bradley Hand" pitchFamily="2" charset="0"/>
              </a:rPr>
              <a:t>ARISE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ist</a:t>
            </a:r>
            <a:r>
              <a:rPr kumimoji="1" lang="en-US" altLang="zh-TW" sz="2400" dirty="0">
                <a:latin typeface="Bradley Hand" pitchFamily="2" charset="0"/>
              </a:rPr>
              <a:t> das </a:t>
            </a:r>
            <a:r>
              <a:rPr kumimoji="1" lang="en-US" altLang="zh-TW" sz="2400" dirty="0" err="1">
                <a:latin typeface="Bradley Hand" pitchFamily="2" charset="0"/>
              </a:rPr>
              <a:t>Beste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Anfangswort</a:t>
            </a:r>
            <a:endParaRPr kumimoji="1" lang="en-US" altLang="zh-TW" sz="2400" dirty="0">
              <a:latin typeface="Bradley Hand" pitchFamily="2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B80D290-A2C4-E86B-69CD-D035C9721EB2}"/>
              </a:ext>
            </a:extLst>
          </p:cNvPr>
          <p:cNvSpPr txBox="1"/>
          <p:nvPr/>
        </p:nvSpPr>
        <p:spPr>
          <a:xfrm>
            <a:off x="10770522" y="2099078"/>
            <a:ext cx="882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600" dirty="0"/>
              <a:t>😁</a:t>
            </a:r>
            <a:endParaRPr kumimoji="1" lang="zh-TW" altLang="en-US" sz="36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BD38815-6732-9EB3-19D5-6B3EB1AF0A89}"/>
              </a:ext>
            </a:extLst>
          </p:cNvPr>
          <p:cNvSpPr txBox="1"/>
          <p:nvPr/>
        </p:nvSpPr>
        <p:spPr>
          <a:xfrm>
            <a:off x="1169581" y="4135007"/>
            <a:ext cx="4455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 err="1">
                <a:latin typeface="Bradley Hand" pitchFamily="2" charset="0"/>
              </a:rPr>
              <a:t>Mit</a:t>
            </a:r>
            <a:r>
              <a:rPr kumimoji="1" lang="en-US" altLang="zh-TW" sz="2400" dirty="0">
                <a:latin typeface="Bradley Hand" pitchFamily="2" charset="0"/>
              </a:rPr>
              <a:t> 14855 </a:t>
            </a:r>
            <a:r>
              <a:rPr kumimoji="1" lang="en-US" altLang="zh-TW" sz="2400" dirty="0" err="1">
                <a:latin typeface="Bradley Hand" pitchFamily="2" charset="0"/>
              </a:rPr>
              <a:t>Wörter</a:t>
            </a:r>
            <a:r>
              <a:rPr kumimoji="1" lang="en-US" altLang="zh-TW" sz="2400" dirty="0">
                <a:latin typeface="Bradley Hand" pitchFamily="2" charset="0"/>
              </a:rPr>
              <a:t>:</a:t>
            </a:r>
          </a:p>
          <a:p>
            <a:r>
              <a:rPr kumimoji="1" lang="en-US" altLang="zh-TW" sz="2400" dirty="0" err="1">
                <a:latin typeface="Bradley Hand" pitchFamily="2" charset="0"/>
              </a:rPr>
              <a:t>ExpRem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</a:p>
          <a:p>
            <a:r>
              <a:rPr kumimoji="1" lang="en-US" altLang="zh-TW" sz="2400" dirty="0" err="1">
                <a:latin typeface="Bradley Hand" pitchFamily="2" charset="0"/>
              </a:rPr>
              <a:t>WorstRem</a:t>
            </a:r>
            <a:endParaRPr kumimoji="1" lang="zh-TW" altLang="en-US" sz="2400" dirty="0">
              <a:latin typeface="Bradley Hand" pitchFamily="2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1C0CFE-F7C1-E5AA-9445-04A3B2DD821C}"/>
              </a:ext>
            </a:extLst>
          </p:cNvPr>
          <p:cNvSpPr txBox="1"/>
          <p:nvPr/>
        </p:nvSpPr>
        <p:spPr>
          <a:xfrm>
            <a:off x="5555252" y="4481923"/>
            <a:ext cx="6097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400" b="1" dirty="0">
                <a:latin typeface="Bradley Hand" pitchFamily="2" charset="0"/>
              </a:rPr>
              <a:t>LARES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ist</a:t>
            </a:r>
            <a:r>
              <a:rPr kumimoji="1" lang="en-US" altLang="zh-TW" sz="2400" dirty="0">
                <a:latin typeface="Bradley Hand" pitchFamily="2" charset="0"/>
              </a:rPr>
              <a:t> das </a:t>
            </a:r>
            <a:r>
              <a:rPr kumimoji="1" lang="en-US" altLang="zh-TW" sz="2400" dirty="0" err="1">
                <a:latin typeface="Bradley Hand" pitchFamily="2" charset="0"/>
              </a:rPr>
              <a:t>Beste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Anfangswort</a:t>
            </a:r>
            <a:endParaRPr kumimoji="1" lang="en-US" altLang="zh-TW" sz="2400" dirty="0">
              <a:latin typeface="Bradley Hand" pitchFamily="2" charset="0"/>
            </a:endParaRPr>
          </a:p>
          <a:p>
            <a:r>
              <a:rPr kumimoji="1" lang="en-US" altLang="zh-TW" sz="2400" b="1" dirty="0">
                <a:latin typeface="Bradley Hand" pitchFamily="2" charset="0"/>
              </a:rPr>
              <a:t>SERIA</a:t>
            </a:r>
            <a:r>
              <a:rPr kumimoji="1" lang="zh-TW" altLang="en-US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ist</a:t>
            </a:r>
            <a:r>
              <a:rPr kumimoji="1" lang="en-US" altLang="zh-TW" sz="2400" dirty="0">
                <a:latin typeface="Bradley Hand" pitchFamily="2" charset="0"/>
              </a:rPr>
              <a:t> das </a:t>
            </a:r>
            <a:r>
              <a:rPr kumimoji="1" lang="en-US" altLang="zh-TW" sz="2400" dirty="0" err="1">
                <a:latin typeface="Bradley Hand" pitchFamily="2" charset="0"/>
              </a:rPr>
              <a:t>Beste</a:t>
            </a:r>
            <a:r>
              <a:rPr kumimoji="1" lang="en-US" altLang="zh-TW" sz="2400" dirty="0">
                <a:latin typeface="Bradley Hand" pitchFamily="2" charset="0"/>
              </a:rPr>
              <a:t> </a:t>
            </a:r>
            <a:r>
              <a:rPr kumimoji="1" lang="en-US" altLang="zh-TW" sz="2400" dirty="0" err="1">
                <a:latin typeface="Bradley Hand" pitchFamily="2" charset="0"/>
              </a:rPr>
              <a:t>Anfangswort</a:t>
            </a:r>
            <a:endParaRPr kumimoji="1" lang="en-US" altLang="zh-TW" sz="2400" dirty="0">
              <a:latin typeface="Bradley Ha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5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2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3720401-994C-1148-5E64-6944079E0EB2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 err="1">
                <a:latin typeface="Bradley Hand" pitchFamily="2" charset="0"/>
              </a:rPr>
              <a:t>Weitere</a:t>
            </a:r>
            <a:r>
              <a:rPr lang="en-US" altLang="zh-TW" sz="2800" dirty="0">
                <a:latin typeface="Bradley Hand" pitchFamily="2" charset="0"/>
              </a:rPr>
              <a:t> </a:t>
            </a:r>
            <a:r>
              <a:rPr lang="en-US" altLang="zh-TW" sz="2800" dirty="0" err="1">
                <a:latin typeface="Bradley Hand" pitchFamily="2" charset="0"/>
              </a:rPr>
              <a:t>Fragen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68D5104-88EE-2C50-B3AE-1815661DB655}"/>
              </a:ext>
            </a:extLst>
          </p:cNvPr>
          <p:cNvSpPr txBox="1"/>
          <p:nvPr/>
        </p:nvSpPr>
        <p:spPr>
          <a:xfrm>
            <a:off x="1148317" y="2521059"/>
            <a:ext cx="95480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latin typeface="Bradley Hand" pitchFamily="2" charset="0"/>
              </a:rPr>
              <a:t>Wie </a:t>
            </a:r>
            <a:r>
              <a:rPr kumimoji="1" lang="en-US" altLang="zh-TW" sz="2800" dirty="0" err="1">
                <a:latin typeface="Bradley Hand" pitchFamily="2" charset="0"/>
              </a:rPr>
              <a:t>kann</a:t>
            </a:r>
            <a:r>
              <a:rPr kumimoji="1" lang="en-US" altLang="zh-TW" sz="2800" dirty="0">
                <a:latin typeface="Bradley Hand" pitchFamily="2" charset="0"/>
              </a:rPr>
              <a:t> man das </a:t>
            </a:r>
            <a:r>
              <a:rPr kumimoji="1" lang="en-US" altLang="zh-TW" sz="2800" dirty="0" err="1">
                <a:latin typeface="Bradley Hand" pitchFamily="2" charset="0"/>
              </a:rPr>
              <a:t>Rechnen</a:t>
            </a:r>
            <a:r>
              <a:rPr kumimoji="1" lang="en-US" altLang="zh-TW" sz="2800" dirty="0">
                <a:latin typeface="Bradley Hand" pitchFamily="2" charset="0"/>
              </a:rPr>
              <a:t> </a:t>
            </a:r>
            <a:r>
              <a:rPr kumimoji="1" lang="en-US" altLang="zh-TW" sz="2800" dirty="0" err="1">
                <a:latin typeface="Bradley Hand" pitchFamily="2" charset="0"/>
              </a:rPr>
              <a:t>vereinfachen</a:t>
            </a:r>
            <a:r>
              <a:rPr kumimoji="1" lang="en-US" altLang="zh-TW" sz="2800" dirty="0">
                <a:latin typeface="Bradley Hand" pitchFamily="2" charset="0"/>
              </a:rPr>
              <a:t>, um die </a:t>
            </a:r>
            <a:r>
              <a:rPr kumimoji="1" lang="en-US" altLang="zh-TW" sz="2800" dirty="0" err="1">
                <a:latin typeface="Bradley Hand" pitchFamily="2" charset="0"/>
              </a:rPr>
              <a:t>Laufzeit</a:t>
            </a:r>
            <a:r>
              <a:rPr kumimoji="1" lang="en-US" altLang="zh-TW" sz="2800" dirty="0">
                <a:latin typeface="Bradley Hand" pitchFamily="2" charset="0"/>
              </a:rPr>
              <a:t> </a:t>
            </a:r>
            <a:r>
              <a:rPr kumimoji="1" lang="en-US" altLang="zh-TW" sz="2800" dirty="0" err="1">
                <a:latin typeface="Bradley Hand" pitchFamily="2" charset="0"/>
              </a:rPr>
              <a:t>zu</a:t>
            </a:r>
            <a:r>
              <a:rPr kumimoji="1" lang="en-US" altLang="zh-TW" sz="2800" dirty="0">
                <a:latin typeface="Bradley Hand" pitchFamily="2" charset="0"/>
              </a:rPr>
              <a:t> </a:t>
            </a:r>
            <a:r>
              <a:rPr kumimoji="1" lang="en-US" altLang="zh-TW" sz="2800" dirty="0" err="1">
                <a:latin typeface="Bradley Hand" pitchFamily="2" charset="0"/>
              </a:rPr>
              <a:t>reduzieren</a:t>
            </a:r>
            <a:r>
              <a:rPr kumimoji="1" lang="en-US" altLang="zh-TW" sz="2800" dirty="0">
                <a:latin typeface="Bradley Hand" pitchFamily="2" charset="0"/>
              </a:rPr>
              <a:t>?</a:t>
            </a:r>
          </a:p>
          <a:p>
            <a:endParaRPr kumimoji="1" lang="en-US" altLang="zh-TW" sz="2800" dirty="0">
              <a:latin typeface="Bradley Hand" pitchFamily="2" charset="0"/>
            </a:endParaRPr>
          </a:p>
          <a:p>
            <a:r>
              <a:rPr kumimoji="1" lang="en-US" altLang="zh-TW" sz="2800" dirty="0" err="1">
                <a:latin typeface="Bradley Hand" pitchFamily="2" charset="0"/>
              </a:rPr>
              <a:t>Gibt</a:t>
            </a:r>
            <a:r>
              <a:rPr kumimoji="1" lang="en-US" altLang="zh-TW" sz="2800" dirty="0">
                <a:latin typeface="Bradley Hand" pitchFamily="2" charset="0"/>
              </a:rPr>
              <a:t> es </a:t>
            </a:r>
            <a:r>
              <a:rPr kumimoji="1" lang="en-US" altLang="zh-TW" sz="2800" dirty="0" err="1">
                <a:latin typeface="Bradley Hand" pitchFamily="2" charset="0"/>
              </a:rPr>
              <a:t>noch</a:t>
            </a:r>
            <a:r>
              <a:rPr kumimoji="1" lang="en-US" altLang="zh-TW" sz="2800" dirty="0">
                <a:latin typeface="Bradley Hand" pitchFamily="2" charset="0"/>
              </a:rPr>
              <a:t> </a:t>
            </a:r>
            <a:r>
              <a:rPr kumimoji="1" lang="en-US" altLang="zh-TW" sz="2800" dirty="0" err="1">
                <a:latin typeface="Bradley Hand" pitchFamily="2" charset="0"/>
              </a:rPr>
              <a:t>bessere</a:t>
            </a:r>
            <a:r>
              <a:rPr kumimoji="1" lang="en-US" altLang="zh-TW" sz="2800" dirty="0">
                <a:latin typeface="Bradley Hand" pitchFamily="2" charset="0"/>
              </a:rPr>
              <a:t> </a:t>
            </a:r>
            <a:r>
              <a:rPr kumimoji="1" lang="en-US" altLang="zh-TW" sz="2800" dirty="0" err="1">
                <a:latin typeface="Bradley Hand" pitchFamily="2" charset="0"/>
              </a:rPr>
              <a:t>Methoden</a:t>
            </a:r>
            <a:r>
              <a:rPr kumimoji="1" lang="en-US" altLang="zh-TW" sz="2800" dirty="0">
                <a:latin typeface="Bradley Hand" pitchFamily="2" charset="0"/>
              </a:rPr>
              <a:t> </a:t>
            </a:r>
            <a:r>
              <a:rPr kumimoji="1" lang="en-US" altLang="zh-TW" sz="2800" dirty="0" err="1">
                <a:latin typeface="Bradley Hand" pitchFamily="2" charset="0"/>
              </a:rPr>
              <a:t>mit</a:t>
            </a:r>
            <a:r>
              <a:rPr kumimoji="1" lang="en-US" altLang="zh-TW" sz="2800" dirty="0">
                <a:latin typeface="Bradley Hand" pitchFamily="2" charset="0"/>
              </a:rPr>
              <a:t> </a:t>
            </a:r>
            <a:r>
              <a:rPr kumimoji="1" lang="en-US" altLang="zh-TW" sz="2800" dirty="0" err="1">
                <a:latin typeface="Bradley Hand" pitchFamily="2" charset="0"/>
              </a:rPr>
              <a:t>theoretischer</a:t>
            </a:r>
            <a:r>
              <a:rPr kumimoji="1" lang="en-US" altLang="zh-TW" sz="2800" dirty="0">
                <a:latin typeface="Bradley Hand" pitchFamily="2" charset="0"/>
              </a:rPr>
              <a:t> </a:t>
            </a:r>
            <a:r>
              <a:rPr kumimoji="1" lang="en-US" altLang="zh-TW" sz="2800" dirty="0" err="1">
                <a:latin typeface="Bradley Hand" pitchFamily="2" charset="0"/>
              </a:rPr>
              <a:t>Grundlagen</a:t>
            </a:r>
            <a:r>
              <a:rPr kumimoji="1" lang="en-US" altLang="zh-TW" sz="2800" dirty="0">
                <a:latin typeface="Bradley Hand" pitchFamily="2" charset="0"/>
              </a:rPr>
              <a:t>? </a:t>
            </a:r>
            <a:endParaRPr kumimoji="1" lang="zh-TW" altLang="en-US" sz="2800" dirty="0">
              <a:latin typeface="Bradley Ha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01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30C91EEB-D039-6CAB-1C9F-4286B672B312}"/>
              </a:ext>
            </a:extLst>
          </p:cNvPr>
          <p:cNvSpPr txBox="1"/>
          <p:nvPr/>
        </p:nvSpPr>
        <p:spPr>
          <a:xfrm>
            <a:off x="699091" y="618092"/>
            <a:ext cx="3171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sz="2800" dirty="0">
                <a:latin typeface="Bradley Hand" pitchFamily="2" charset="0"/>
              </a:rPr>
              <a:t>In der Zukunft…</a:t>
            </a:r>
            <a:endParaRPr lang="zh-TW" altLang="en-US" sz="2800" dirty="0">
              <a:latin typeface="Bradley Hand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61E6E54-8F66-E187-C506-6DDCFB9C9A74}"/>
              </a:ext>
            </a:extLst>
          </p:cNvPr>
          <p:cNvSpPr txBox="1"/>
          <p:nvPr/>
        </p:nvSpPr>
        <p:spPr>
          <a:xfrm>
            <a:off x="595424" y="1838703"/>
            <a:ext cx="619878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e-DE" altLang="zh-TW" sz="2800" dirty="0">
                <a:latin typeface="Bradley Hand" pitchFamily="2" charset="0"/>
              </a:rPr>
              <a:t>Algorithmus beschleunigen</a:t>
            </a:r>
          </a:p>
          <a:p>
            <a:pPr marL="342900" indent="-342900">
              <a:buAutoNum type="arabicPeriod"/>
            </a:pPr>
            <a:endParaRPr lang="de-DE" altLang="zh-TW" sz="2800" dirty="0">
              <a:latin typeface="Bradley Hand" pitchFamily="2" charset="0"/>
            </a:endParaRPr>
          </a:p>
          <a:p>
            <a:pPr marL="342900" indent="-342900">
              <a:buAutoNum type="arabicPeriod"/>
            </a:pPr>
            <a:endParaRPr lang="de-DE" altLang="zh-TW" sz="2800" dirty="0">
              <a:latin typeface="Bradley Hand" pitchFamily="2" charset="0"/>
            </a:endParaRPr>
          </a:p>
          <a:p>
            <a:pPr marL="342900" indent="-342900">
              <a:buAutoNum type="arabicPeriod"/>
            </a:pPr>
            <a:endParaRPr lang="de-DE" altLang="zh-TW" sz="2800" dirty="0">
              <a:latin typeface="Bradley Hand" pitchFamily="2" charset="0"/>
            </a:endParaRPr>
          </a:p>
          <a:p>
            <a:pPr marL="342900" indent="-342900">
              <a:buAutoNum type="arabicPeriod"/>
            </a:pPr>
            <a:r>
              <a:rPr lang="de-DE" altLang="zh-TW" sz="2800" dirty="0">
                <a:latin typeface="Bradley Hand" pitchFamily="2" charset="0"/>
              </a:rPr>
              <a:t>Weitere Kennzahlen evaluieren</a:t>
            </a:r>
          </a:p>
          <a:p>
            <a:pPr marL="342900" indent="-342900">
              <a:buAutoNum type="arabicPeriod"/>
            </a:pPr>
            <a:endParaRPr lang="de-DE" altLang="zh-TW" sz="2800" dirty="0">
              <a:latin typeface="Bradley Hand" pitchFamily="2" charset="0"/>
            </a:endParaRPr>
          </a:p>
          <a:p>
            <a:pPr marL="342900" indent="-342900">
              <a:buAutoNum type="arabicPeriod"/>
            </a:pPr>
            <a:endParaRPr lang="de-DE" altLang="zh-TW" sz="2800" dirty="0">
              <a:latin typeface="Bradley Hand" pitchFamily="2" charset="0"/>
            </a:endParaRPr>
          </a:p>
          <a:p>
            <a:pPr marL="342900" indent="-342900">
              <a:buAutoNum type="arabicPeriod"/>
            </a:pPr>
            <a:endParaRPr lang="de-DE" altLang="zh-TW" sz="2800" dirty="0">
              <a:latin typeface="Bradley Hand" pitchFamily="2" charset="0"/>
            </a:endParaRPr>
          </a:p>
          <a:p>
            <a:pPr marL="342900" indent="-342900">
              <a:buAutoNum type="arabicPeriod"/>
            </a:pPr>
            <a:r>
              <a:rPr lang="de-DE" altLang="zh-TW" sz="2800" dirty="0">
                <a:latin typeface="Bradley Hand" pitchFamily="2" charset="0"/>
              </a:rPr>
              <a:t>Größere und diversere Wortlisten</a:t>
            </a:r>
          </a:p>
          <a:p>
            <a:pPr marL="342900" indent="-342900">
              <a:buAutoNum type="arabicPeriod"/>
            </a:pPr>
            <a:endParaRPr lang="de-DE" altLang="zh-TW" sz="2800" dirty="0">
              <a:latin typeface="Bradley Hand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E42B392-BDEA-02CB-FFFD-67F816175499}"/>
                  </a:ext>
                </a:extLst>
              </p:cNvPr>
              <p:cNvSpPr txBox="1"/>
              <p:nvPr/>
            </p:nvSpPr>
            <p:spPr>
              <a:xfrm>
                <a:off x="6249286" y="1822113"/>
                <a:ext cx="3699244" cy="671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TW" b="1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kumimoji="1" lang="en-US" altLang="zh-TW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kumimoji="1" lang="en-US" altLang="zh-TW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kumimoji="1" lang="en-US" altLang="zh-TW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TW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kumimoji="1" lang="en-US" altLang="zh-TW" b="1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zh-TW" dirty="0">
                    <a:latin typeface="Bradley Hand" pitchFamily="2" charset="0"/>
                  </a:rPr>
                  <a:t> </a:t>
                </a:r>
              </a:p>
              <a:p>
                <a:r>
                  <a:rPr lang="en-US" altLang="zh-TW" dirty="0">
                    <a:latin typeface="Bradley Hand" pitchFamily="2" charset="0"/>
                  </a:rPr>
                  <a:t>um </a:t>
                </a:r>
                <a:r>
                  <a:rPr lang="en-US" altLang="zh-TW" dirty="0" err="1">
                    <a:latin typeface="Bradley Hand" pitchFamily="2" charset="0"/>
                  </a:rPr>
                  <a:t>Wiederholung</a:t>
                </a:r>
                <a:r>
                  <a:rPr lang="en-US" altLang="zh-TW" dirty="0">
                    <a:latin typeface="Bradley Hand" pitchFamily="2" charset="0"/>
                  </a:rPr>
                  <a:t> </a:t>
                </a:r>
                <a:r>
                  <a:rPr lang="en-US" altLang="zh-TW" dirty="0" err="1">
                    <a:latin typeface="Bradley Hand" pitchFamily="2" charset="0"/>
                  </a:rPr>
                  <a:t>zu</a:t>
                </a:r>
                <a:r>
                  <a:rPr lang="en-US" altLang="zh-TW" dirty="0">
                    <a:latin typeface="Bradley Hand" pitchFamily="2" charset="0"/>
                  </a:rPr>
                  <a:t> </a:t>
                </a:r>
                <a:r>
                  <a:rPr lang="en-US" altLang="zh-TW" dirty="0" err="1">
                    <a:latin typeface="Bradley Hand" pitchFamily="2" charset="0"/>
                  </a:rPr>
                  <a:t>vermeiden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E42B392-BDEA-02CB-FFFD-67F816175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286" y="1822113"/>
                <a:ext cx="3699244" cy="671209"/>
              </a:xfrm>
              <a:prstGeom prst="rect">
                <a:avLst/>
              </a:prstGeom>
              <a:blipFill>
                <a:blip r:embed="rId2"/>
                <a:stretch>
                  <a:fillRect l="-1370" b="-148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3C5B49D0-38B1-D667-D1C3-8D46EA4BD2A5}"/>
              </a:ext>
            </a:extLst>
          </p:cNvPr>
          <p:cNvSpPr txBox="1"/>
          <p:nvPr/>
        </p:nvSpPr>
        <p:spPr>
          <a:xfrm>
            <a:off x="6249286" y="3285147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de-DE" altLang="zh-TW" dirty="0">
                <a:latin typeface="Bradley Hand" pitchFamily="2" charset="0"/>
              </a:rPr>
              <a:t>Vergleich mit Informationsgewinn / Entropie / erwarteten Zügen (</a:t>
            </a:r>
            <a:r>
              <a:rPr lang="de-DE" altLang="zh-TW" dirty="0" err="1">
                <a:latin typeface="Bradley Hand" pitchFamily="2" charset="0"/>
              </a:rPr>
              <a:t>Expected</a:t>
            </a:r>
            <a:r>
              <a:rPr lang="de-DE" altLang="zh-TW" dirty="0">
                <a:latin typeface="Bradley Hand" pitchFamily="2" charset="0"/>
              </a:rPr>
              <a:t> </a:t>
            </a:r>
            <a:r>
              <a:rPr lang="de-DE" altLang="zh-TW" dirty="0" err="1">
                <a:latin typeface="Bradley Hand" pitchFamily="2" charset="0"/>
              </a:rPr>
              <a:t>Steps</a:t>
            </a:r>
            <a:r>
              <a:rPr lang="de-DE" altLang="zh-TW" dirty="0">
                <a:latin typeface="Bradley Hand" pitchFamily="2" charset="0"/>
              </a:rPr>
              <a:t>).</a:t>
            </a:r>
          </a:p>
          <a:p>
            <a:pPr marL="342900" indent="-342900">
              <a:buAutoNum type="arabicPeriod"/>
            </a:pPr>
            <a:r>
              <a:rPr lang="de-DE" altLang="zh-TW" dirty="0">
                <a:latin typeface="Bradley Hand" pitchFamily="2" charset="0"/>
              </a:rPr>
              <a:t>Robustheitstests: Wie stabil ist die Rangfolge bei veränderten Wortlisten?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4A3EF7A-0583-9C94-6762-43D432DB0F65}"/>
              </a:ext>
            </a:extLst>
          </p:cNvPr>
          <p:cNvSpPr txBox="1"/>
          <p:nvPr/>
        </p:nvSpPr>
        <p:spPr>
          <a:xfrm>
            <a:off x="6249286" y="5172876"/>
            <a:ext cx="5425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TW" dirty="0">
                <a:latin typeface="Bradley Hand" pitchFamily="2" charset="0"/>
              </a:rPr>
              <a:t>Erweiterung auf 6‑Buchstaben-Varianten oder andere Sprachen.</a:t>
            </a:r>
            <a:endParaRPr lang="zh-TW" altLang="en-US" dirty="0">
              <a:latin typeface="Bradley Hand" pitchFamily="2" charset="0"/>
            </a:endParaRP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2EB14856-EB79-D6D0-2F09-222997C8E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86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47E3BD1-F7A1-E3DE-80BD-F8A062CB23B1}"/>
              </a:ext>
            </a:extLst>
          </p:cNvPr>
          <p:cNvSpPr txBox="1"/>
          <p:nvPr/>
        </p:nvSpPr>
        <p:spPr>
          <a:xfrm>
            <a:off x="510362" y="2705725"/>
            <a:ext cx="85592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8800" dirty="0">
                <a:latin typeface="Bradley Hand" pitchFamily="2" charset="0"/>
              </a:rPr>
              <a:t>VIELEN DANK</a:t>
            </a:r>
            <a:endParaRPr kumimoji="1" lang="zh-TW" altLang="en-US" sz="8800" dirty="0">
              <a:latin typeface="Bradley Hand" pitchFamily="2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642B40AA-BA48-A3A8-78D1-8FB807C2C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36" y="166158"/>
            <a:ext cx="3253988" cy="86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53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1437</Words>
  <Application>Microsoft Macintosh PowerPoint</Application>
  <PresentationFormat>寬螢幕</PresentationFormat>
  <Paragraphs>561</Paragraphs>
  <Slides>28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5" baseType="lpstr">
      <vt:lpstr>Arial</vt:lpstr>
      <vt:lpstr>Bradley Hand</vt:lpstr>
      <vt:lpstr>Calibri</vt:lpstr>
      <vt:lpstr>Calibri Light</vt:lpstr>
      <vt:lpstr>Cambria Math</vt:lpstr>
      <vt:lpstr>Symbol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Lauren Lo</dc:creator>
  <cp:lastModifiedBy>Lauren Lo</cp:lastModifiedBy>
  <cp:revision>36</cp:revision>
  <dcterms:created xsi:type="dcterms:W3CDTF">2025-07-04T06:29:42Z</dcterms:created>
  <dcterms:modified xsi:type="dcterms:W3CDTF">2025-07-23T10:10:15Z</dcterms:modified>
</cp:coreProperties>
</file>